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4e2a608c9ff4c83" /><Relationship Type="http://schemas.openxmlformats.org/officeDocument/2006/relationships/extended-properties" Target="/docProps/app.xml" Id="R6769291035854ef4" /><Relationship Type="http://schemas.openxmlformats.org/officeDocument/2006/relationships/officeDocument" Target="/ppt/presentation.xml" Id="Rb11c466b09eb4b7e" /></Relationships>
</file>

<file path=ppt/presentation.xml><?xml version="1.0" encoding="utf-8"?>
<p:presentation xmlns:p="http://schemas.openxmlformats.org/presentationml/2006/main">
  <p:sldMasterIdLst>
    <p:sldMasterId xmlns:r="http://schemas.openxmlformats.org/officeDocument/2006/relationships" id="2147483648" r:id="Rc00207a213ab4681"/>
  </p:sldMasterIdLst>
  <p:notesMasterIdLst>
    <p:notesMasterId xmlns:r="http://schemas.openxmlformats.org/officeDocument/2006/relationships" r:id="R8e28e944953b47f9"/>
  </p:notesMasterIdLst>
  <p:sldIdLst>
    <p:sldId xmlns:r="http://schemas.openxmlformats.org/officeDocument/2006/relationships" id="256" r:id="R1ee63132e99d40ff"/>
    <p:sldId xmlns:r="http://schemas.openxmlformats.org/officeDocument/2006/relationships" id="257" r:id="R76bbe4778a434fb2"/>
    <p:sldId xmlns:r="http://schemas.openxmlformats.org/officeDocument/2006/relationships" id="258" r:id="R20fe4481d5d44711"/>
    <p:sldId xmlns:r="http://schemas.openxmlformats.org/officeDocument/2006/relationships" id="259" r:id="R0df5ecac873f4d9b"/>
    <p:sldId xmlns:r="http://schemas.openxmlformats.org/officeDocument/2006/relationships" id="260" r:id="R4e6ad09443a54ffa"/>
    <p:sldId xmlns:r="http://schemas.openxmlformats.org/officeDocument/2006/relationships" id="261" r:id="R8cc46d8bcbc44be9"/>
    <p:sldId xmlns:r="http://schemas.openxmlformats.org/officeDocument/2006/relationships" id="262" r:id="R3d580223bf934c7a"/>
    <p:sldId xmlns:r="http://schemas.openxmlformats.org/officeDocument/2006/relationships" id="263" r:id="R5eabde03086142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8830fdec9942ae" /><Relationship Type="http://schemas.openxmlformats.org/officeDocument/2006/relationships/slideMaster" Target="/ppt/slideMasters/slideMaster1.xml" Id="Rc00207a213ab4681" /><Relationship Type="http://schemas.openxmlformats.org/officeDocument/2006/relationships/notesMaster" Target="/ppt/notesMasters/notesMaster1.xml" Id="R8e28e944953b47f9" /><Relationship Type="http://schemas.openxmlformats.org/officeDocument/2006/relationships/presProps" Target="/ppt/presProps.xml" Id="R9664c737bc5e48fd" /><Relationship Type="http://schemas.openxmlformats.org/officeDocument/2006/relationships/tableStyles" Target="/ppt/tableStyles.xml" Id="R77033ee22da2416e" /><Relationship Type="http://schemas.openxmlformats.org/officeDocument/2006/relationships/slide" Target="/ppt/slides/slide1.xml" Id="R1ee63132e99d40ff" /><Relationship Type="http://schemas.openxmlformats.org/officeDocument/2006/relationships/slide" Target="/ppt/slides/slide2.xml" Id="R76bbe4778a434fb2" /><Relationship Type="http://schemas.openxmlformats.org/officeDocument/2006/relationships/slide" Target="/ppt/slides/slide3.xml" Id="R20fe4481d5d44711" /><Relationship Type="http://schemas.openxmlformats.org/officeDocument/2006/relationships/slide" Target="/ppt/slides/slide4.xml" Id="R0df5ecac873f4d9b" /><Relationship Type="http://schemas.openxmlformats.org/officeDocument/2006/relationships/slide" Target="/ppt/slides/slide5.xml" Id="R4e6ad09443a54ffa" /><Relationship Type="http://schemas.openxmlformats.org/officeDocument/2006/relationships/slide" Target="/ppt/slides/slide6.xml" Id="R8cc46d8bcbc44be9" /><Relationship Type="http://schemas.openxmlformats.org/officeDocument/2006/relationships/slide" Target="/ppt/slides/slide7.xml" Id="R3d580223bf934c7a" /><Relationship Type="http://schemas.openxmlformats.org/officeDocument/2006/relationships/slide" Target="/ppt/slides/slide8.xml" Id="R5eabde03086142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0165c5661248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d9f99cc1a444a5" /><Relationship Type="http://schemas.openxmlformats.org/officeDocument/2006/relationships/notesMaster" Target="/ppt/notesMasters/notesMaster1.xml" Id="R98e92419c3ca4b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5722c63ef34c82" /><Relationship Type="http://schemas.openxmlformats.org/officeDocument/2006/relationships/notesMaster" Target="/ppt/notesMasters/notesMaster1.xml" Id="R76db9a9af29d49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92eb4297704bf0" /><Relationship Type="http://schemas.openxmlformats.org/officeDocument/2006/relationships/notesMaster" Target="/ppt/notesMasters/notesMaster1.xml" Id="Rff3d032569784c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63647dc2c244fc" /><Relationship Type="http://schemas.openxmlformats.org/officeDocument/2006/relationships/notesMaster" Target="/ppt/notesMasters/notesMaster1.xml" Id="Rba0fe0cb9f1e4a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49fad1375e4df3" /><Relationship Type="http://schemas.openxmlformats.org/officeDocument/2006/relationships/notesMaster" Target="/ppt/notesMasters/notesMaster1.xml" Id="Rb21185b1ed0b40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c00f69f1ee470c" /><Relationship Type="http://schemas.openxmlformats.org/officeDocument/2006/relationships/notesMaster" Target="/ppt/notesMasters/notesMaster1.xml" Id="R22899225438e45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6a13c52cfc4e73" /><Relationship Type="http://schemas.openxmlformats.org/officeDocument/2006/relationships/notesMaster" Target="/ppt/notesMasters/notesMaster1.xml" Id="R57e2a562e67441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05eed70aac455b" /><Relationship Type="http://schemas.openxmlformats.org/officeDocument/2006/relationships/notesMaster" Target="/ppt/notesMasters/notesMaster1.xml" Id="Rf7be9a339ebd4a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Sprint review for planning work only. Confirm sprint dates and presenters before presenting.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 repository is documentation-only. Sprint 1 translates the available brief into a plan and records what still needs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stack is transcribed from the project brief as the planned target. It does not mean the packages have been installed or integrated. Confirm versions, Azure configuration, and service boundaries with the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flow, not an approved requirement. Confirm parent object, supported devices, and whether the first release needs color, width, eraser, undo/redo, or clear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rendering technology from the icon design decision. Konva/react-konva is proposed for the canvas; the exact package version and icon library remain unconfirmed. Test pointer, touch, resizing, and stroke quality during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open questions, not decisions. Do not send sketches to an AI service without explicit product and privacy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now holds the report, planning discussion notes, and a feature plan. The records are drafts based on the supplied brief; names, dates, and approvals need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Capture answers as actions with owners and dates. Update the planning notes after the client or team confirms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0241998db6348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55cb7819a74037" /><Relationship Type="http://schemas.openxmlformats.org/officeDocument/2006/relationships/slideLayout" Target="/ppt/slideLayouts/slideLayout1.xml" Id="Rde6e461984324f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6e461984324f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a4ed0db7d149af" /><Relationship Type="http://schemas.openxmlformats.org/officeDocument/2006/relationships/notesSlide" Target="/ppt/notesSlides/notesSlide1.xml" Id="Rb4ff3b178bda49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b6867b0efee4ed1" /><Relationship Type="http://schemas.openxmlformats.org/officeDocument/2006/relationships/notesSlide" Target="/ppt/notesSlides/notesSlide2.xml" Id="Rc1557f51966f41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458958fde24a54" /><Relationship Type="http://schemas.openxmlformats.org/officeDocument/2006/relationships/notesSlide" Target="/ppt/notesSlides/notesSlide3.xml" Id="R342596d825bd48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6206da78e24927" /><Relationship Type="http://schemas.openxmlformats.org/officeDocument/2006/relationships/notesSlide" Target="/ppt/notesSlides/notesSlide4.xml" Id="Re5a150184be948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88d40ba32943b0" /><Relationship Type="http://schemas.openxmlformats.org/officeDocument/2006/relationships/notesSlide" Target="/ppt/notesSlides/notesSlide5.xml" Id="R88c5b1980e394b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f4d360c4ad4108" /><Relationship Type="http://schemas.openxmlformats.org/officeDocument/2006/relationships/notesSlide" Target="/ppt/notesSlides/notesSlide6.xml" Id="Rd9be4eaf504b4b5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1b627311704bf0" /><Relationship Type="http://schemas.openxmlformats.org/officeDocument/2006/relationships/notesSlide" Target="/ppt/notesSlides/notesSlide7.xml" Id="R282c995021134f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49676395a64f5b" /><Relationship Type="http://schemas.openxmlformats.org/officeDocument/2006/relationships/notesSlide" Target="/ppt/notesSlides/notesSlide8.xml" Id="R5f5dd9f18e8f445b" /></Relationships>
</file>

<file path=ppt/slides/slide1.xml><?xml version="1.0" encoding="utf-8"?>
<p:sld xmlns:p="http://schemas.openxmlformats.org/presentationml/2006/main">
  <p:cSld>
    <p:bg>
      <p:bgPr>
        <a:solidFill xmlns:a="http://schemas.openxmlformats.org/drawingml/2006/main">
          <a:srgbClr val="142B3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561750-6360-41C3-B4BC-A4ACD2230232}"/>
              </a:ext>
            </a:extLst>
          </p:cNvPr>
          <p:cNvSpPr>
            <a:spLocks xmlns:a="http://schemas.openxmlformats.org/drawingml/2006/main" noGrp="1"/>
          </p:cNvSpPr>
          <p:nvPr/>
        </p:nvSpPr>
        <p:spPr>
          <a:xfrm xmlns:a="http://schemas.openxmlformats.org/drawingml/2006/main">
            <a:off x="762000" y="781050"/>
            <a:ext cx="857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D9E8E4"/>
                </a:solidFill>
                <a:latin typeface="Fira Sans"/>
                <a:ea typeface="Fira Sans"/>
                <a:cs typeface="Fira Sans"/>
              </a:defRPr>
            </a:pPr>
            <a:r>
              <a:rPr sz="1500" b="1">
                <a:solidFill>
                  <a:srgbClr val="D9E8E4"/>
                </a:solidFill>
                <a:latin typeface="Fira Sans"/>
                <a:ea typeface="Fira Sans"/>
                <a:cs typeface="Fira Sans"/>
              </a:rPr>
              <a:t>AI GROUP COORDINATOR</a:t>
            </a:r>
          </a:p>
        </p:txBody>
      </p:sp>
      <p:sp>
        <p:nvSpPr>
          <p:cNvPr id="2" name="">
            <a:extLst xmlns:a="http://schemas.openxmlformats.org/drawingml/2006/main">
              <a:ext uri="{FF2B5EF4-FFF2-40B4-BE49-F238E27FC236}">
                <a16:creationId xmlns:a16="http://schemas.microsoft.com/office/drawing/2014/main" id="{FCA4BDFF-EC7C-423F-9D67-9ADA783BB8F5}"/>
              </a:ext>
            </a:extLst>
          </p:cNvPr>
          <p:cNvSpPr>
            <a:spLocks xmlns:a="http://schemas.openxmlformats.org/drawingml/2006/main" noGrp="1"/>
          </p:cNvSpPr>
          <p:nvPr/>
        </p:nvSpPr>
        <p:spPr>
          <a:xfrm xmlns:a="http://schemas.openxmlformats.org/drawingml/2006/main">
            <a:off x="762000" y="1581150"/>
            <a:ext cx="1009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4800" b="1">
                <a:solidFill>
                  <a:srgbClr val="FFFFFF"/>
                </a:solidFill>
                <a:latin typeface="Fira Sans"/>
                <a:ea typeface="Fira Sans"/>
                <a:cs typeface="Fira Sans"/>
              </a:defRPr>
            </a:pPr>
            <a:r>
              <a:rPr sz="4800" b="1">
                <a:solidFill>
                  <a:srgbClr val="FFFFFF"/>
                </a:solidFill>
                <a:latin typeface="Fira Sans"/>
                <a:ea typeface="Fira Sans"/>
                <a:cs typeface="Fira Sans"/>
              </a:rPr>
              <a:t>Sprint 1 Review</a:t>
            </a:r>
          </a:p>
        </p:txBody>
      </p:sp>
      <p:sp>
        <p:nvSpPr>
          <p:cNvPr id="3" name="">
            <a:extLst xmlns:a="http://schemas.openxmlformats.org/drawingml/2006/main">
              <a:ext uri="{FF2B5EF4-FFF2-40B4-BE49-F238E27FC236}">
                <a16:creationId xmlns:a16="http://schemas.microsoft.com/office/drawing/2014/main" id="{B04C3A86-3EB2-404D-9785-3D83D4352034}"/>
              </a:ext>
            </a:extLst>
          </p:cNvPr>
          <p:cNvSpPr>
            <a:spLocks xmlns:a="http://schemas.openxmlformats.org/drawingml/2006/main" noGrp="1"/>
          </p:cNvSpPr>
          <p:nvPr/>
        </p:nvSpPr>
        <p:spPr>
          <a:xfrm xmlns:a="http://schemas.openxmlformats.org/drawingml/2006/main">
            <a:off x="800100" y="262890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0">
                <a:solidFill>
                  <a:srgbClr val="D9E8E4"/>
                </a:solidFill>
                <a:latin typeface="Fira Sans"/>
                <a:ea typeface="Fira Sans"/>
                <a:cs typeface="Fira Sans"/>
              </a:defRPr>
            </a:pPr>
            <a:r>
              <a:rPr sz="2550" b="0">
                <a:solidFill>
                  <a:srgbClr val="D9E8E4"/>
                </a:solidFill>
                <a:latin typeface="Fira Sans"/>
                <a:ea typeface="Fira Sans"/>
                <a:cs typeface="Fira Sans"/>
              </a:rPr>
              <a:t>Planning and feature definition</a:t>
            </a:r>
          </a:p>
        </p:txBody>
      </p:sp>
      <p:sp>
        <p:nvSpPr>
          <p:cNvPr id="4" name="">
            <a:extLst xmlns:a="http://schemas.openxmlformats.org/drawingml/2006/main">
              <a:ext uri="{FF2B5EF4-FFF2-40B4-BE49-F238E27FC236}">
                <a16:creationId xmlns:a16="http://schemas.microsoft.com/office/drawing/2014/main" id="{190DDB52-C1CB-4643-8C90-9437E446958D}"/>
              </a:ext>
            </a:extLst>
          </p:cNvPr>
          <p:cNvSpPr>
            <a:spLocks xmlns:a="http://schemas.openxmlformats.org/drawingml/2006/main" noGrp="1"/>
          </p:cNvSpPr>
          <p:nvPr/>
        </p:nvSpPr>
        <p:spPr>
          <a:xfrm xmlns:a="http://schemas.openxmlformats.org/drawingml/2006/main">
            <a:off x="800100" y="5200650"/>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0">
                <a:solidFill>
                  <a:srgbClr val="FFFFFF"/>
                </a:solidFill>
                <a:latin typeface="Fira Sans"/>
                <a:ea typeface="Fira Sans"/>
                <a:cs typeface="Fira Sans"/>
              </a:defRPr>
            </a:pPr>
            <a:r>
              <a:rPr sz="1950" b="0">
                <a:solidFill>
                  <a:srgbClr val="FFFFFF"/>
                </a:solidFill>
                <a:latin typeface="Fira Sans"/>
                <a:ea typeface="Fira Sans"/>
                <a:cs typeface="Fira Sans"/>
              </a:rPr>
              <a:t>A planning sprint. No continuation code was provided.</a:t>
            </a:r>
          </a:p>
        </p:txBody>
      </p:sp>
      <p:sp>
        <p:nvSpPr>
          <p:cNvPr id="5" name="">
            <a:extLst xmlns:a="http://schemas.openxmlformats.org/drawingml/2006/main">
              <a:ext uri="{FF2B5EF4-FFF2-40B4-BE49-F238E27FC236}">
                <a16:creationId xmlns:a16="http://schemas.microsoft.com/office/drawing/2014/main" id="{3D639C60-258D-4F20-818F-97B2254BE963}"/>
              </a:ext>
            </a:extLst>
          </p:cNvPr>
          <p:cNvSpPr>
            <a:spLocks xmlns:a="http://schemas.openxmlformats.org/drawingml/2006/main" noGrp="1"/>
          </p:cNvSpPr>
          <p:nvPr/>
        </p:nvSpPr>
        <p:spPr>
          <a:xfrm xmlns:a="http://schemas.openxmlformats.org/drawingml/2006/main">
            <a:off x="800100" y="582930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defRPr sz="1350" b="0">
                <a:solidFill>
                  <a:srgbClr val="D9E8E4"/>
                </a:solidFill>
                <a:latin typeface="Fira Sans"/>
                <a:ea typeface="Fira Sans"/>
                <a:cs typeface="Fira Sans"/>
              </a:defRPr>
            </a:pPr>
            <a:r>
              <a:rPr sz="1350" b="0">
                <a:solidFill>
                  <a:srgbClr val="D9E8E4"/>
                </a:solidFill>
                <a:latin typeface="Fira Sans"/>
                <a:ea typeface="Fira Sans"/>
                <a:cs typeface="Fira Sans"/>
              </a:rPr>
              <a:t>Date and presenters: to confirm</a:t>
            </a:r>
          </a:p>
        </p:txBody>
      </p:sp>
    </p:spTree>
    <p:extLst>
      <p:ext uri="{BB962C8B-B14F-4D97-AF65-F5344CB8AC3E}">
        <p14:creationId xmlns:p14="http://schemas.microsoft.com/office/powerpoint/2010/main" val="90678090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6BFE16C-55D1-4F1B-963B-72AAA7D2DD97}"/>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42B3B"/>
                </a:solidFill>
                <a:latin typeface="Fira Sans"/>
                <a:ea typeface="Fira Sans"/>
                <a:cs typeface="Fira Sans"/>
              </a:defRPr>
            </a:pPr>
            <a:r>
              <a:rPr sz="3300" b="1">
                <a:solidFill>
                  <a:srgbClr val="142B3B"/>
                </a:solidFill>
                <a:latin typeface="Fira Sans"/>
                <a:ea typeface="Fira Sans"/>
                <a:cs typeface="Fira Sans"/>
              </a:rPr>
              <a:t>Sprint 1 scope</a:t>
            </a:r>
          </a:p>
        </p:txBody>
      </p:sp>
      <p:sp>
        <p:nvSpPr>
          <p:cNvPr id="2" name="">
            <a:extLst xmlns:a="http://schemas.openxmlformats.org/drawingml/2006/main">
              <a:ext uri="{FF2B5EF4-FFF2-40B4-BE49-F238E27FC236}">
                <a16:creationId xmlns:a16="http://schemas.microsoft.com/office/drawing/2014/main" id="{5398E15E-4BD7-46DA-9779-964D2682FA31}"/>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52616B"/>
                </a:solidFill>
                <a:latin typeface="Fira Sans"/>
                <a:ea typeface="Fira Sans"/>
                <a:cs typeface="Fira Sans"/>
              </a:defRPr>
            </a:pPr>
            <a:r>
              <a:rPr sz="1200" b="0">
                <a:solidFill>
                  <a:srgbClr val="52616B"/>
                </a:solidFill>
                <a:latin typeface="Fira Sans"/>
                <a:ea typeface="Fira Sans"/>
                <a:cs typeface="Fira Sans"/>
              </a:rPr>
              <a:t>SPRINT 1  /  02</a:t>
            </a:r>
          </a:p>
        </p:txBody>
      </p:sp>
      <p:sp>
        <p:nvSpPr>
          <p:cNvPr id="3" name="">
            <a:extLst xmlns:a="http://schemas.openxmlformats.org/drawingml/2006/main">
              <a:ext uri="{FF2B5EF4-FFF2-40B4-BE49-F238E27FC236}">
                <a16:creationId xmlns:a16="http://schemas.microsoft.com/office/drawing/2014/main" id="{35CBB703-4FC4-4F18-8853-3619F7C2B08F}"/>
              </a:ext>
            </a:extLst>
          </p:cNvPr>
          <p:cNvSpPr>
            <a:spLocks xmlns:a="http://schemas.openxmlformats.org/drawingml/2006/main" noGrp="1"/>
          </p:cNvSpPr>
          <p:nvPr/>
        </p:nvSpPr>
        <p:spPr>
          <a:xfrm xmlns:a="http://schemas.openxmlformats.org/drawingml/2006/main">
            <a:off x="762000" y="15049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Starting point</a:t>
            </a:r>
          </a:p>
        </p:txBody>
      </p:sp>
      <p:sp>
        <p:nvSpPr>
          <p:cNvPr id="4" name="">
            <a:extLst xmlns:a="http://schemas.openxmlformats.org/drawingml/2006/main">
              <a:ext uri="{FF2B5EF4-FFF2-40B4-BE49-F238E27FC236}">
                <a16:creationId xmlns:a16="http://schemas.microsoft.com/office/drawing/2014/main" id="{1E1AC9C0-FF38-4E02-B1A0-CE0C85ACB89C}"/>
              </a:ext>
            </a:extLst>
          </p:cNvPr>
          <p:cNvSpPr>
            <a:spLocks xmlns:a="http://schemas.openxmlformats.org/drawingml/2006/main" noGrp="1"/>
          </p:cNvSpPr>
          <p:nvPr/>
        </p:nvSpPr>
        <p:spPr>
          <a:xfrm xmlns:a="http://schemas.openxmlformats.org/drawingml/2006/main">
            <a:off x="762000" y="1905000"/>
            <a:ext cx="4953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The client did not provide code for continuing an existing project. No implementation baseline was available.</a:t>
            </a:r>
          </a:p>
        </p:txBody>
      </p:sp>
      <p:sp>
        <p:nvSpPr>
          <p:cNvPr id="5" name="">
            <a:extLst xmlns:a="http://schemas.openxmlformats.org/drawingml/2006/main">
              <a:ext uri="{FF2B5EF4-FFF2-40B4-BE49-F238E27FC236}">
                <a16:creationId xmlns:a16="http://schemas.microsoft.com/office/drawing/2014/main" id="{CAA3D530-B921-4F66-ADD3-FB41157AA1CA}"/>
              </a:ext>
            </a:extLst>
          </p:cNvPr>
          <p:cNvSpPr>
            <a:spLocks xmlns:a="http://schemas.openxmlformats.org/drawingml/2006/main" noGrp="1"/>
          </p:cNvSpPr>
          <p:nvPr/>
        </p:nvSpPr>
        <p:spPr>
          <a:xfrm xmlns:a="http://schemas.openxmlformats.org/drawingml/2006/main">
            <a:off x="6477000" y="15049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Sprint focus</a:t>
            </a:r>
          </a:p>
        </p:txBody>
      </p:sp>
      <p:sp>
        <p:nvSpPr>
          <p:cNvPr id="6" name="">
            <a:extLst xmlns:a="http://schemas.openxmlformats.org/drawingml/2006/main">
              <a:ext uri="{FF2B5EF4-FFF2-40B4-BE49-F238E27FC236}">
                <a16:creationId xmlns:a16="http://schemas.microsoft.com/office/drawing/2014/main" id="{524E22A5-809F-4099-B58C-A2540C4F9EBE}"/>
              </a:ext>
            </a:extLst>
          </p:cNvPr>
          <p:cNvSpPr>
            <a:spLocks xmlns:a="http://schemas.openxmlformats.org/drawingml/2006/main" noGrp="1"/>
          </p:cNvSpPr>
          <p:nvPr/>
        </p:nvSpPr>
        <p:spPr>
          <a:xfrm xmlns:a="http://schemas.openxmlformats.org/drawingml/2006/main">
            <a:off x="6477000" y="1905000"/>
            <a:ext cx="49530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Record the target stack, shape the free-drawing feature, and identify the product and technical decisions needed before implementation.</a:t>
            </a:r>
          </a:p>
        </p:txBody>
      </p:sp>
      <p:sp>
        <p:nvSpPr>
          <p:cNvPr id="7" name="">
            <a:extLst xmlns:a="http://schemas.openxmlformats.org/drawingml/2006/main">
              <a:ext uri="{FF2B5EF4-FFF2-40B4-BE49-F238E27FC236}">
                <a16:creationId xmlns:a16="http://schemas.microsoft.com/office/drawing/2014/main" id="{CD5E491F-1ECD-4FA4-86C5-BA0CFF639CD3}"/>
              </a:ext>
            </a:extLst>
          </p:cNvPr>
          <p:cNvSpPr>
            <a:spLocks xmlns:a="http://schemas.openxmlformats.org/drawingml/2006/main" noGrp="1"/>
          </p:cNvSpPr>
          <p:nvPr/>
        </p:nvSpPr>
        <p:spPr>
          <a:xfrm xmlns:a="http://schemas.openxmlformats.org/drawingml/2006/main">
            <a:off x="762000" y="41529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Outcome</a:t>
            </a:r>
          </a:p>
        </p:txBody>
      </p:sp>
      <p:sp>
        <p:nvSpPr>
          <p:cNvPr id="8" name="">
            <a:extLst xmlns:a="http://schemas.openxmlformats.org/drawingml/2006/main">
              <a:ext uri="{FF2B5EF4-FFF2-40B4-BE49-F238E27FC236}">
                <a16:creationId xmlns:a16="http://schemas.microsoft.com/office/drawing/2014/main" id="{ABA36DF3-32EC-401F-8209-BCD8E3606FA3}"/>
              </a:ext>
            </a:extLst>
          </p:cNvPr>
          <p:cNvSpPr>
            <a:spLocks xmlns:a="http://schemas.openxmlformats.org/drawingml/2006/main" noGrp="1"/>
          </p:cNvSpPr>
          <p:nvPr/>
        </p:nvSpPr>
        <p:spPr>
          <a:xfrm xmlns:a="http://schemas.openxmlformats.org/drawingml/2006/main">
            <a:off x="762000" y="4591050"/>
            <a:ext cx="10382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325" b="1">
                <a:solidFill>
                  <a:srgbClr val="142B3B"/>
                </a:solidFill>
                <a:latin typeface="Fira Sans"/>
                <a:ea typeface="Fira Sans"/>
                <a:cs typeface="Fira Sans"/>
              </a:defRPr>
            </a:pPr>
            <a:r>
              <a:rPr sz="2325" b="1">
                <a:solidFill>
                  <a:srgbClr val="142B3B"/>
                </a:solidFill>
                <a:latin typeface="Fira Sans"/>
                <a:ea typeface="Fira Sans"/>
                <a:cs typeface="Fira Sans"/>
              </a:rPr>
              <a:t>Planning artifacts only — no running product, test results, or recorded software demo are claimed.</a:t>
            </a:r>
          </a:p>
        </p:txBody>
      </p:sp>
    </p:spTree>
    <p:extLst>
      <p:ext uri="{BB962C8B-B14F-4D97-AF65-F5344CB8AC3E}">
        <p14:creationId xmlns:p14="http://schemas.microsoft.com/office/powerpoint/2010/main" val="1359241084"/>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8BC854-7D9C-42A8-A2DC-6E092456B6F6}"/>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42B3B"/>
                </a:solidFill>
                <a:latin typeface="Fira Sans"/>
                <a:ea typeface="Fira Sans"/>
                <a:cs typeface="Fira Sans"/>
              </a:defRPr>
            </a:pPr>
            <a:r>
              <a:rPr sz="3300" b="1">
                <a:solidFill>
                  <a:srgbClr val="142B3B"/>
                </a:solidFill>
                <a:latin typeface="Fira Sans"/>
                <a:ea typeface="Fira Sans"/>
                <a:cs typeface="Fira Sans"/>
              </a:rPr>
              <a:t>Proposed technology stack</a:t>
            </a:r>
          </a:p>
        </p:txBody>
      </p:sp>
      <p:sp>
        <p:nvSpPr>
          <p:cNvPr id="2" name="">
            <a:extLst xmlns:a="http://schemas.openxmlformats.org/drawingml/2006/main">
              <a:ext uri="{FF2B5EF4-FFF2-40B4-BE49-F238E27FC236}">
                <a16:creationId xmlns:a16="http://schemas.microsoft.com/office/drawing/2014/main" id="{4625D51A-BB81-4728-BD92-718797591B40}"/>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52616B"/>
                </a:solidFill>
                <a:latin typeface="Fira Sans"/>
                <a:ea typeface="Fira Sans"/>
                <a:cs typeface="Fira Sans"/>
              </a:defRPr>
            </a:pPr>
            <a:r>
              <a:rPr sz="1200" b="0">
                <a:solidFill>
                  <a:srgbClr val="52616B"/>
                </a:solidFill>
                <a:latin typeface="Fira Sans"/>
                <a:ea typeface="Fira Sans"/>
                <a:cs typeface="Fira Sans"/>
              </a:rPr>
              <a:t>SPRINT 1  /  03</a:t>
            </a:r>
          </a:p>
        </p:txBody>
      </p:sp>
      <p:sp>
        <p:nvSpPr>
          <p:cNvPr id="3" name="">
            <a:extLst xmlns:a="http://schemas.openxmlformats.org/drawingml/2006/main">
              <a:ext uri="{FF2B5EF4-FFF2-40B4-BE49-F238E27FC236}">
                <a16:creationId xmlns:a16="http://schemas.microsoft.com/office/drawing/2014/main" id="{1A655B0A-44E5-4F87-A95C-BC340092D702}"/>
              </a:ext>
            </a:extLst>
          </p:cNvPr>
          <p:cNvSpPr>
            <a:spLocks xmlns:a="http://schemas.openxmlformats.org/drawingml/2006/main" noGrp="1"/>
          </p:cNvSpPr>
          <p:nvPr/>
        </p:nvSpPr>
        <p:spPr>
          <a:xfrm xmlns:a="http://schemas.openxmlformats.org/drawingml/2006/main">
            <a:off x="762000" y="146685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Frontend</a:t>
            </a:r>
          </a:p>
        </p:txBody>
      </p:sp>
      <p:sp>
        <p:nvSpPr>
          <p:cNvPr id="4" name="">
            <a:extLst xmlns:a="http://schemas.openxmlformats.org/drawingml/2006/main">
              <a:ext uri="{FF2B5EF4-FFF2-40B4-BE49-F238E27FC236}">
                <a16:creationId xmlns:a16="http://schemas.microsoft.com/office/drawing/2014/main" id="{5BA0283B-064C-480E-98A0-920352CE058E}"/>
              </a:ext>
            </a:extLst>
          </p:cNvPr>
          <p:cNvSpPr>
            <a:spLocks xmlns:a="http://schemas.openxmlformats.org/drawingml/2006/main" noGrp="1"/>
          </p:cNvSpPr>
          <p:nvPr/>
        </p:nvSpPr>
        <p:spPr>
          <a:xfrm xmlns:a="http://schemas.openxmlformats.org/drawingml/2006/main">
            <a:off x="762000" y="1866900"/>
            <a:ext cx="30956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React 19</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TypeScript · Vite</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Tailwind CSS · Radix UI</a:t>
            </a:r>
          </a:p>
        </p:txBody>
      </p:sp>
      <p:sp>
        <p:nvSpPr>
          <p:cNvPr id="5" name="">
            <a:extLst xmlns:a="http://schemas.openxmlformats.org/drawingml/2006/main">
              <a:ext uri="{FF2B5EF4-FFF2-40B4-BE49-F238E27FC236}">
                <a16:creationId xmlns:a16="http://schemas.microsoft.com/office/drawing/2014/main" id="{A7C71456-C0F2-4BC5-9E95-21A78DE49308}"/>
              </a:ext>
            </a:extLst>
          </p:cNvPr>
          <p:cNvSpPr>
            <a:spLocks xmlns:a="http://schemas.openxmlformats.org/drawingml/2006/main" noGrp="1"/>
          </p:cNvSpPr>
          <p:nvPr/>
        </p:nvSpPr>
        <p:spPr>
          <a:xfrm xmlns:a="http://schemas.openxmlformats.org/drawingml/2006/main">
            <a:off x="4476750" y="146685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Backend</a:t>
            </a:r>
          </a:p>
        </p:txBody>
      </p:sp>
      <p:sp>
        <p:nvSpPr>
          <p:cNvPr id="6" name="">
            <a:extLst xmlns:a="http://schemas.openxmlformats.org/drawingml/2006/main">
              <a:ext uri="{FF2B5EF4-FFF2-40B4-BE49-F238E27FC236}">
                <a16:creationId xmlns:a16="http://schemas.microsoft.com/office/drawing/2014/main" id="{8E698FF8-7829-4121-9B50-EA681B75B078}"/>
              </a:ext>
            </a:extLst>
          </p:cNvPr>
          <p:cNvSpPr>
            <a:spLocks xmlns:a="http://schemas.openxmlformats.org/drawingml/2006/main" noGrp="1"/>
          </p:cNvSpPr>
          <p:nvPr/>
        </p:nvSpPr>
        <p:spPr>
          <a:xfrm xmlns:a="http://schemas.openxmlformats.org/drawingml/2006/main">
            <a:off x="4476750" y="1866900"/>
            <a:ext cx="30956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Python 3.12</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Django</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Django REST Framework</a:t>
            </a:r>
          </a:p>
        </p:txBody>
      </p:sp>
      <p:sp>
        <p:nvSpPr>
          <p:cNvPr id="7" name="">
            <a:extLst xmlns:a="http://schemas.openxmlformats.org/drawingml/2006/main">
              <a:ext uri="{FF2B5EF4-FFF2-40B4-BE49-F238E27FC236}">
                <a16:creationId xmlns:a16="http://schemas.microsoft.com/office/drawing/2014/main" id="{42634F01-7CB6-46DC-8685-F0EB6D2985C5}"/>
              </a:ext>
            </a:extLst>
          </p:cNvPr>
          <p:cNvSpPr>
            <a:spLocks xmlns:a="http://schemas.openxmlformats.org/drawingml/2006/main" noGrp="1"/>
          </p:cNvSpPr>
          <p:nvPr/>
        </p:nvSpPr>
        <p:spPr>
          <a:xfrm xmlns:a="http://schemas.openxmlformats.org/drawingml/2006/main">
            <a:off x="8191500" y="146685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Data and identity</a:t>
            </a:r>
          </a:p>
        </p:txBody>
      </p:sp>
      <p:sp>
        <p:nvSpPr>
          <p:cNvPr id="8" name="">
            <a:extLst xmlns:a="http://schemas.openxmlformats.org/drawingml/2006/main">
              <a:ext uri="{FF2B5EF4-FFF2-40B4-BE49-F238E27FC236}">
                <a16:creationId xmlns:a16="http://schemas.microsoft.com/office/drawing/2014/main" id="{3075429C-1D7E-4ECB-A153-E23501E71C9B}"/>
              </a:ext>
            </a:extLst>
          </p:cNvPr>
          <p:cNvSpPr>
            <a:spLocks xmlns:a="http://schemas.openxmlformats.org/drawingml/2006/main" noGrp="1"/>
          </p:cNvSpPr>
          <p:nvPr/>
        </p:nvSpPr>
        <p:spPr>
          <a:xfrm xmlns:a="http://schemas.openxmlformats.org/drawingml/2006/main">
            <a:off x="8191500" y="1866900"/>
            <a:ext cx="30956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PostgreSQL on Azure</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JWT authentication</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SimpleJWT</a:t>
            </a:r>
          </a:p>
        </p:txBody>
      </p:sp>
      <p:sp>
        <p:nvSpPr>
          <p:cNvPr id="9" name="">
            <a:extLst xmlns:a="http://schemas.openxmlformats.org/drawingml/2006/main">
              <a:ext uri="{FF2B5EF4-FFF2-40B4-BE49-F238E27FC236}">
                <a16:creationId xmlns:a16="http://schemas.microsoft.com/office/drawing/2014/main" id="{6A0546EB-E50A-4EC9-B720-D88F5C711FF7}"/>
              </a:ext>
            </a:extLst>
          </p:cNvPr>
          <p:cNvSpPr>
            <a:spLocks xmlns:a="http://schemas.openxmlformats.org/drawingml/2006/main" noGrp="1"/>
          </p:cNvSpPr>
          <p:nvPr/>
        </p:nvSpPr>
        <p:spPr>
          <a:xfrm xmlns:a="http://schemas.openxmlformats.org/drawingml/2006/main">
            <a:off x="2571750" y="3886200"/>
            <a:ext cx="3095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Real-time</a:t>
            </a:r>
          </a:p>
        </p:txBody>
      </p:sp>
      <p:sp>
        <p:nvSpPr>
          <p:cNvPr id="10" name="">
            <a:extLst xmlns:a="http://schemas.openxmlformats.org/drawingml/2006/main">
              <a:ext uri="{FF2B5EF4-FFF2-40B4-BE49-F238E27FC236}">
                <a16:creationId xmlns:a16="http://schemas.microsoft.com/office/drawing/2014/main" id="{426B97FC-4A15-4FD8-9999-FE332610CAA8}"/>
              </a:ext>
            </a:extLst>
          </p:cNvPr>
          <p:cNvSpPr>
            <a:spLocks xmlns:a="http://schemas.openxmlformats.org/drawingml/2006/main" noGrp="1"/>
          </p:cNvSpPr>
          <p:nvPr/>
        </p:nvSpPr>
        <p:spPr>
          <a:xfrm xmlns:a="http://schemas.openxmlformats.org/drawingml/2006/main">
            <a:off x="2571750" y="4286250"/>
            <a:ext cx="30956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Django Channels</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Daphne for WebSockets</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Scope to be confirmed</a:t>
            </a:r>
          </a:p>
        </p:txBody>
      </p:sp>
      <p:sp>
        <p:nvSpPr>
          <p:cNvPr id="11" name="">
            <a:extLst xmlns:a="http://schemas.openxmlformats.org/drawingml/2006/main">
              <a:ext uri="{FF2B5EF4-FFF2-40B4-BE49-F238E27FC236}">
                <a16:creationId xmlns:a16="http://schemas.microsoft.com/office/drawing/2014/main" id="{50BC7D3C-B014-4AF7-AD2C-4953BB864AFC}"/>
              </a:ext>
            </a:extLst>
          </p:cNvPr>
          <p:cNvSpPr>
            <a:spLocks xmlns:a="http://schemas.openxmlformats.org/drawingml/2006/main" noGrp="1"/>
          </p:cNvSpPr>
          <p:nvPr/>
        </p:nvSpPr>
        <p:spPr>
          <a:xfrm xmlns:a="http://schemas.openxmlformats.org/drawingml/2006/main">
            <a:off x="6477000" y="3886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AI integration</a:t>
            </a:r>
          </a:p>
        </p:txBody>
      </p:sp>
      <p:sp>
        <p:nvSpPr>
          <p:cNvPr id="12" name="">
            <a:extLst xmlns:a="http://schemas.openxmlformats.org/drawingml/2006/main">
              <a:ext uri="{FF2B5EF4-FFF2-40B4-BE49-F238E27FC236}">
                <a16:creationId xmlns:a16="http://schemas.microsoft.com/office/drawing/2014/main" id="{D58B92AA-DE1D-4D12-ADD0-999154EDFAC3}"/>
              </a:ext>
            </a:extLst>
          </p:cNvPr>
          <p:cNvSpPr>
            <a:spLocks xmlns:a="http://schemas.openxmlformats.org/drawingml/2006/main" noGrp="1"/>
          </p:cNvSpPr>
          <p:nvPr/>
        </p:nvSpPr>
        <p:spPr>
          <a:xfrm xmlns:a="http://schemas.openxmlformats.org/drawingml/2006/main">
            <a:off x="6477000" y="4286250"/>
            <a:ext cx="3619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Microsoft Semantic Kernel</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OpenAI SDK</a:t>
            </a:r>
          </a:p>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Azure OpenAI</a:t>
            </a:r>
          </a:p>
        </p:txBody>
      </p:sp>
    </p:spTree>
    <p:extLst>
      <p:ext uri="{BB962C8B-B14F-4D97-AF65-F5344CB8AC3E}">
        <p14:creationId xmlns:p14="http://schemas.microsoft.com/office/powerpoint/2010/main" val="97003718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DA5CB1C-79E4-41D0-A96C-278DC0E13065}"/>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42B3B"/>
                </a:solidFill>
                <a:latin typeface="Fira Sans"/>
                <a:ea typeface="Fira Sans"/>
                <a:cs typeface="Fira Sans"/>
              </a:defRPr>
            </a:pPr>
            <a:r>
              <a:rPr sz="3300" b="1">
                <a:solidFill>
                  <a:srgbClr val="142B3B"/>
                </a:solidFill>
                <a:latin typeface="Fira Sans"/>
                <a:ea typeface="Fira Sans"/>
                <a:cs typeface="Fira Sans"/>
              </a:rPr>
              <a:t>Free-draw feature proposal</a:t>
            </a:r>
          </a:p>
        </p:txBody>
      </p:sp>
      <p:sp>
        <p:nvSpPr>
          <p:cNvPr id="2" name="">
            <a:extLst xmlns:a="http://schemas.openxmlformats.org/drawingml/2006/main">
              <a:ext uri="{FF2B5EF4-FFF2-40B4-BE49-F238E27FC236}">
                <a16:creationId xmlns:a16="http://schemas.microsoft.com/office/drawing/2014/main" id="{0E38AC0A-B2E8-4EF1-8F4B-94D3B427E3C1}"/>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52616B"/>
                </a:solidFill>
                <a:latin typeface="Fira Sans"/>
                <a:ea typeface="Fira Sans"/>
                <a:cs typeface="Fira Sans"/>
              </a:defRPr>
            </a:pPr>
            <a:r>
              <a:rPr sz="1200" b="0">
                <a:solidFill>
                  <a:srgbClr val="52616B"/>
                </a:solidFill>
                <a:latin typeface="Fira Sans"/>
                <a:ea typeface="Fira Sans"/>
                <a:cs typeface="Fira Sans"/>
              </a:rPr>
              <a:t>SPRINT 1  /  04</a:t>
            </a:r>
          </a:p>
        </p:txBody>
      </p:sp>
      <p:sp>
        <p:nvSpPr>
          <p:cNvPr id="3" name="">
            <a:extLst xmlns:a="http://schemas.openxmlformats.org/drawingml/2006/main">
              <a:ext uri="{FF2B5EF4-FFF2-40B4-BE49-F238E27FC236}">
                <a16:creationId xmlns:a16="http://schemas.microsoft.com/office/drawing/2014/main" id="{3AC11F55-4DA3-4C7D-9096-6B1F41DEEFD2}"/>
              </a:ext>
            </a:extLst>
          </p:cNvPr>
          <p:cNvSpPr>
            <a:spLocks xmlns:a="http://schemas.openxmlformats.org/drawingml/2006/main" noGrp="1"/>
          </p:cNvSpPr>
          <p:nvPr/>
        </p:nvSpPr>
        <p:spPr>
          <a:xfrm xmlns:a="http://schemas.openxmlformats.org/drawingml/2006/main">
            <a:off x="762000" y="1333500"/>
            <a:ext cx="1028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0">
                <a:solidFill>
                  <a:srgbClr val="52616B"/>
                </a:solidFill>
                <a:latin typeface="Fira Sans"/>
                <a:ea typeface="Fira Sans"/>
                <a:cs typeface="Fira Sans"/>
              </a:defRPr>
            </a:pPr>
            <a:r>
              <a:rPr sz="1950" b="0">
                <a:solidFill>
                  <a:srgbClr val="52616B"/>
                </a:solidFill>
                <a:latin typeface="Fira Sans"/>
                <a:ea typeface="Fira Sans"/>
                <a:cs typeface="Fira Sans"/>
              </a:rPr>
              <a:t>A simple sketching flow to validate with the client</a:t>
            </a:r>
          </a:p>
        </p:txBody>
      </p:sp>
      <p:sp>
        <p:nvSpPr>
          <p:cNvPr id="4" name="">
            <a:extLst xmlns:a="http://schemas.openxmlformats.org/drawingml/2006/main">
              <a:ext uri="{FF2B5EF4-FFF2-40B4-BE49-F238E27FC236}">
                <a16:creationId xmlns:a16="http://schemas.microsoft.com/office/drawing/2014/main" id="{FFED50B0-A2DF-4CDA-ABE2-ACA33F47F787}"/>
              </a:ext>
            </a:extLst>
          </p:cNvPr>
          <p:cNvSpPr>
            <a:spLocks xmlns:a="http://schemas.openxmlformats.org/drawingml/2006/main" noGrp="1"/>
          </p:cNvSpPr>
          <p:nvPr/>
        </p:nvSpPr>
        <p:spPr>
          <a:xfrm xmlns:a="http://schemas.openxmlformats.org/drawingml/2006/main">
            <a:off x="781050" y="207645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01</a:t>
            </a:r>
          </a:p>
        </p:txBody>
      </p:sp>
      <p:sp>
        <p:nvSpPr>
          <p:cNvPr id="5" name="">
            <a:extLst xmlns:a="http://schemas.openxmlformats.org/drawingml/2006/main">
              <a:ext uri="{FF2B5EF4-FFF2-40B4-BE49-F238E27FC236}">
                <a16:creationId xmlns:a16="http://schemas.microsoft.com/office/drawing/2014/main" id="{901BFF12-2144-4AEB-AB32-9F7DE964153B}"/>
              </a:ext>
            </a:extLst>
          </p:cNvPr>
          <p:cNvSpPr>
            <a:spLocks xmlns:a="http://schemas.openxmlformats.org/drawingml/2006/main" noGrp="1"/>
          </p:cNvSpPr>
          <p:nvPr/>
        </p:nvSpPr>
        <p:spPr>
          <a:xfrm xmlns:a="http://schemas.openxmlformats.org/drawingml/2006/main">
            <a:off x="1619250" y="207645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42B3B"/>
                </a:solidFill>
                <a:latin typeface="Fira Sans"/>
                <a:ea typeface="Fira Sans"/>
                <a:cs typeface="Fira Sans"/>
              </a:defRPr>
            </a:pPr>
            <a:r>
              <a:rPr sz="2025" b="1">
                <a:solidFill>
                  <a:srgbClr val="142B3B"/>
                </a:solidFill>
                <a:latin typeface="Fira Sans"/>
                <a:ea typeface="Fira Sans"/>
                <a:cs typeface="Fira Sans"/>
              </a:rPr>
              <a:t>Open</a:t>
            </a:r>
          </a:p>
        </p:txBody>
      </p:sp>
      <p:sp>
        <p:nvSpPr>
          <p:cNvPr id="6" name="">
            <a:extLst xmlns:a="http://schemas.openxmlformats.org/drawingml/2006/main">
              <a:ext uri="{FF2B5EF4-FFF2-40B4-BE49-F238E27FC236}">
                <a16:creationId xmlns:a16="http://schemas.microsoft.com/office/drawing/2014/main" id="{084A5DC4-2DE1-4489-AED8-3BEF6C767560}"/>
              </a:ext>
            </a:extLst>
          </p:cNvPr>
          <p:cNvSpPr>
            <a:spLocks xmlns:a="http://schemas.openxmlformats.org/drawingml/2006/main" noGrp="1"/>
          </p:cNvSpPr>
          <p:nvPr/>
        </p:nvSpPr>
        <p:spPr>
          <a:xfrm xmlns:a="http://schemas.openxmlformats.org/drawingml/2006/main">
            <a:off x="3429000" y="20764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3042"/>
                </a:solidFill>
                <a:latin typeface="Fira Sans"/>
                <a:ea typeface="Fira Sans"/>
                <a:cs typeface="Fira Sans"/>
              </a:defRPr>
            </a:pPr>
            <a:r>
              <a:rPr sz="1875" b="0">
                <a:solidFill>
                  <a:srgbClr val="173042"/>
                </a:solidFill>
                <a:latin typeface="Fira Sans"/>
                <a:ea typeface="Fira Sans"/>
                <a:cs typeface="Fira Sans"/>
              </a:rPr>
              <a:t>Enter the relevant group, task, or workspace</a:t>
            </a:r>
          </a:p>
        </p:txBody>
      </p:sp>
      <p:sp>
        <p:nvSpPr>
          <p:cNvPr id="7" name="">
            <a:extLst xmlns:a="http://schemas.openxmlformats.org/drawingml/2006/main">
              <a:ext uri="{FF2B5EF4-FFF2-40B4-BE49-F238E27FC236}">
                <a16:creationId xmlns:a16="http://schemas.microsoft.com/office/drawing/2014/main" id="{7E4BDA0B-06C7-4FF7-8FE7-D398E90D8C8E}"/>
              </a:ext>
            </a:extLst>
          </p:cNvPr>
          <p:cNvSpPr>
            <a:spLocks xmlns:a="http://schemas.openxmlformats.org/drawingml/2006/main" noGrp="1"/>
          </p:cNvSpPr>
          <p:nvPr/>
        </p:nvSpPr>
        <p:spPr>
          <a:xfrm xmlns:a="http://schemas.openxmlformats.org/drawingml/2006/main">
            <a:off x="781050" y="28575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02</a:t>
            </a:r>
          </a:p>
        </p:txBody>
      </p:sp>
      <p:sp>
        <p:nvSpPr>
          <p:cNvPr id="8" name="">
            <a:extLst xmlns:a="http://schemas.openxmlformats.org/drawingml/2006/main">
              <a:ext uri="{FF2B5EF4-FFF2-40B4-BE49-F238E27FC236}">
                <a16:creationId xmlns:a16="http://schemas.microsoft.com/office/drawing/2014/main" id="{0EC47B63-D182-400C-A1E6-587BDE13DAF0}"/>
              </a:ext>
            </a:extLst>
          </p:cNvPr>
          <p:cNvSpPr>
            <a:spLocks xmlns:a="http://schemas.openxmlformats.org/drawingml/2006/main" noGrp="1"/>
          </p:cNvSpPr>
          <p:nvPr/>
        </p:nvSpPr>
        <p:spPr>
          <a:xfrm xmlns:a="http://schemas.openxmlformats.org/drawingml/2006/main">
            <a:off x="1619250" y="28575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42B3B"/>
                </a:solidFill>
                <a:latin typeface="Fira Sans"/>
                <a:ea typeface="Fira Sans"/>
                <a:cs typeface="Fira Sans"/>
              </a:defRPr>
            </a:pPr>
            <a:r>
              <a:rPr sz="2025" b="1">
                <a:solidFill>
                  <a:srgbClr val="142B3B"/>
                </a:solidFill>
                <a:latin typeface="Fira Sans"/>
                <a:ea typeface="Fira Sans"/>
                <a:cs typeface="Fira Sans"/>
              </a:rPr>
              <a:t>Select</a:t>
            </a:r>
          </a:p>
        </p:txBody>
      </p:sp>
      <p:sp>
        <p:nvSpPr>
          <p:cNvPr id="9" name="">
            <a:extLst xmlns:a="http://schemas.openxmlformats.org/drawingml/2006/main">
              <a:ext uri="{FF2B5EF4-FFF2-40B4-BE49-F238E27FC236}">
                <a16:creationId xmlns:a16="http://schemas.microsoft.com/office/drawing/2014/main" id="{9BC6DB6B-54D8-4667-B52E-F5BD8A03FA14}"/>
              </a:ext>
            </a:extLst>
          </p:cNvPr>
          <p:cNvSpPr>
            <a:spLocks xmlns:a="http://schemas.openxmlformats.org/drawingml/2006/main" noGrp="1"/>
          </p:cNvSpPr>
          <p:nvPr/>
        </p:nvSpPr>
        <p:spPr>
          <a:xfrm xmlns:a="http://schemas.openxmlformats.org/drawingml/2006/main">
            <a:off x="3429000" y="285750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3042"/>
                </a:solidFill>
                <a:latin typeface="Fira Sans"/>
                <a:ea typeface="Fira Sans"/>
                <a:cs typeface="Fira Sans"/>
              </a:defRPr>
            </a:pPr>
            <a:r>
              <a:rPr sz="1875" b="0">
                <a:solidFill>
                  <a:srgbClr val="173042"/>
                </a:solidFill>
                <a:latin typeface="Fira Sans"/>
                <a:ea typeface="Fira Sans"/>
                <a:cs typeface="Fira Sans"/>
              </a:rPr>
              <a:t>Choose a labeled Free draw tool</a:t>
            </a:r>
          </a:p>
        </p:txBody>
      </p:sp>
      <p:sp>
        <p:nvSpPr>
          <p:cNvPr id="10" name="">
            <a:extLst xmlns:a="http://schemas.openxmlformats.org/drawingml/2006/main">
              <a:ext uri="{FF2B5EF4-FFF2-40B4-BE49-F238E27FC236}">
                <a16:creationId xmlns:a16="http://schemas.microsoft.com/office/drawing/2014/main" id="{D0DC42A8-9CA9-44E3-A450-4B51A683C910}"/>
              </a:ext>
            </a:extLst>
          </p:cNvPr>
          <p:cNvSpPr>
            <a:spLocks xmlns:a="http://schemas.openxmlformats.org/drawingml/2006/main" noGrp="1"/>
          </p:cNvSpPr>
          <p:nvPr/>
        </p:nvSpPr>
        <p:spPr>
          <a:xfrm xmlns:a="http://schemas.openxmlformats.org/drawingml/2006/main">
            <a:off x="781050" y="363855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03</a:t>
            </a:r>
          </a:p>
        </p:txBody>
      </p:sp>
      <p:sp>
        <p:nvSpPr>
          <p:cNvPr id="11" name="">
            <a:extLst xmlns:a="http://schemas.openxmlformats.org/drawingml/2006/main">
              <a:ext uri="{FF2B5EF4-FFF2-40B4-BE49-F238E27FC236}">
                <a16:creationId xmlns:a16="http://schemas.microsoft.com/office/drawing/2014/main" id="{8BC33A02-7326-4A26-9844-B5CA7405DA0A}"/>
              </a:ext>
            </a:extLst>
          </p:cNvPr>
          <p:cNvSpPr>
            <a:spLocks xmlns:a="http://schemas.openxmlformats.org/drawingml/2006/main" noGrp="1"/>
          </p:cNvSpPr>
          <p:nvPr/>
        </p:nvSpPr>
        <p:spPr>
          <a:xfrm xmlns:a="http://schemas.openxmlformats.org/drawingml/2006/main">
            <a:off x="1619250" y="363855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42B3B"/>
                </a:solidFill>
                <a:latin typeface="Fira Sans"/>
                <a:ea typeface="Fira Sans"/>
                <a:cs typeface="Fira Sans"/>
              </a:defRPr>
            </a:pPr>
            <a:r>
              <a:rPr sz="2025" b="1">
                <a:solidFill>
                  <a:srgbClr val="142B3B"/>
                </a:solidFill>
                <a:latin typeface="Fira Sans"/>
                <a:ea typeface="Fira Sans"/>
                <a:cs typeface="Fira Sans"/>
              </a:rPr>
              <a:t>Sketch</a:t>
            </a:r>
          </a:p>
        </p:txBody>
      </p:sp>
      <p:sp>
        <p:nvSpPr>
          <p:cNvPr id="12" name="">
            <a:extLst xmlns:a="http://schemas.openxmlformats.org/drawingml/2006/main">
              <a:ext uri="{FF2B5EF4-FFF2-40B4-BE49-F238E27FC236}">
                <a16:creationId xmlns:a16="http://schemas.microsoft.com/office/drawing/2014/main" id="{B5CDD593-0EB4-40C1-8610-5D1F5FCFB107}"/>
              </a:ext>
            </a:extLst>
          </p:cNvPr>
          <p:cNvSpPr>
            <a:spLocks xmlns:a="http://schemas.openxmlformats.org/drawingml/2006/main" noGrp="1"/>
          </p:cNvSpPr>
          <p:nvPr/>
        </p:nvSpPr>
        <p:spPr>
          <a:xfrm xmlns:a="http://schemas.openxmlformats.org/drawingml/2006/main">
            <a:off x="3429000" y="36385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3042"/>
                </a:solidFill>
                <a:latin typeface="Fira Sans"/>
                <a:ea typeface="Fira Sans"/>
                <a:cs typeface="Fira Sans"/>
              </a:defRPr>
            </a:pPr>
            <a:r>
              <a:rPr sz="1875" b="0">
                <a:solidFill>
                  <a:srgbClr val="173042"/>
                </a:solidFill>
                <a:latin typeface="Fira Sans"/>
                <a:ea typeface="Fira Sans"/>
                <a:cs typeface="Fira Sans"/>
              </a:rPr>
              <a:t>Draw with pointer or touch on a canvas</a:t>
            </a:r>
          </a:p>
        </p:txBody>
      </p:sp>
      <p:sp>
        <p:nvSpPr>
          <p:cNvPr id="13" name="">
            <a:extLst xmlns:a="http://schemas.openxmlformats.org/drawingml/2006/main">
              <a:ext uri="{FF2B5EF4-FFF2-40B4-BE49-F238E27FC236}">
                <a16:creationId xmlns:a16="http://schemas.microsoft.com/office/drawing/2014/main" id="{543B8D9D-72C3-4537-88AB-D159AC3671D2}"/>
              </a:ext>
            </a:extLst>
          </p:cNvPr>
          <p:cNvSpPr>
            <a:spLocks xmlns:a="http://schemas.openxmlformats.org/drawingml/2006/main" noGrp="1"/>
          </p:cNvSpPr>
          <p:nvPr/>
        </p:nvSpPr>
        <p:spPr>
          <a:xfrm xmlns:a="http://schemas.openxmlformats.org/drawingml/2006/main">
            <a:off x="781050" y="44196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04</a:t>
            </a:r>
          </a:p>
        </p:txBody>
      </p:sp>
      <p:sp>
        <p:nvSpPr>
          <p:cNvPr id="14" name="">
            <a:extLst xmlns:a="http://schemas.openxmlformats.org/drawingml/2006/main">
              <a:ext uri="{FF2B5EF4-FFF2-40B4-BE49-F238E27FC236}">
                <a16:creationId xmlns:a16="http://schemas.microsoft.com/office/drawing/2014/main" id="{28AAA013-32DD-4353-9A39-84694F56F4E7}"/>
              </a:ext>
            </a:extLst>
          </p:cNvPr>
          <p:cNvSpPr>
            <a:spLocks xmlns:a="http://schemas.openxmlformats.org/drawingml/2006/main" noGrp="1"/>
          </p:cNvSpPr>
          <p:nvPr/>
        </p:nvSpPr>
        <p:spPr>
          <a:xfrm xmlns:a="http://schemas.openxmlformats.org/drawingml/2006/main">
            <a:off x="1619250" y="441960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42B3B"/>
                </a:solidFill>
                <a:latin typeface="Fira Sans"/>
                <a:ea typeface="Fira Sans"/>
                <a:cs typeface="Fira Sans"/>
              </a:defRPr>
            </a:pPr>
            <a:r>
              <a:rPr sz="2025" b="1">
                <a:solidFill>
                  <a:srgbClr val="142B3B"/>
                </a:solidFill>
                <a:latin typeface="Fira Sans"/>
                <a:ea typeface="Fira Sans"/>
                <a:cs typeface="Fira Sans"/>
              </a:rPr>
              <a:t>Finish</a:t>
            </a:r>
          </a:p>
        </p:txBody>
      </p:sp>
      <p:sp>
        <p:nvSpPr>
          <p:cNvPr id="15" name="">
            <a:extLst xmlns:a="http://schemas.openxmlformats.org/drawingml/2006/main">
              <a:ext uri="{FF2B5EF4-FFF2-40B4-BE49-F238E27FC236}">
                <a16:creationId xmlns:a16="http://schemas.microsoft.com/office/drawing/2014/main" id="{6D8FCE69-37BE-4DD3-B83F-294754D55C4F}"/>
              </a:ext>
            </a:extLst>
          </p:cNvPr>
          <p:cNvSpPr>
            <a:spLocks xmlns:a="http://schemas.openxmlformats.org/drawingml/2006/main" noGrp="1"/>
          </p:cNvSpPr>
          <p:nvPr/>
        </p:nvSpPr>
        <p:spPr>
          <a:xfrm xmlns:a="http://schemas.openxmlformats.org/drawingml/2006/main">
            <a:off x="3429000" y="441960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3042"/>
                </a:solidFill>
                <a:latin typeface="Fira Sans"/>
                <a:ea typeface="Fira Sans"/>
                <a:cs typeface="Fira Sans"/>
              </a:defRPr>
            </a:pPr>
            <a:r>
              <a:rPr sz="1875" b="0">
                <a:solidFill>
                  <a:srgbClr val="173042"/>
                </a:solidFill>
                <a:latin typeface="Fira Sans"/>
                <a:ea typeface="Fira Sans"/>
                <a:cs typeface="Fira Sans"/>
              </a:rPr>
              <a:t>Exit drawing mode; confirm edit controls</a:t>
            </a:r>
          </a:p>
        </p:txBody>
      </p:sp>
      <p:sp>
        <p:nvSpPr>
          <p:cNvPr id="16" name="">
            <a:extLst xmlns:a="http://schemas.openxmlformats.org/drawingml/2006/main">
              <a:ext uri="{FF2B5EF4-FFF2-40B4-BE49-F238E27FC236}">
                <a16:creationId xmlns:a16="http://schemas.microsoft.com/office/drawing/2014/main" id="{50472172-2831-47F5-9435-7EAF6556C44F}"/>
              </a:ext>
            </a:extLst>
          </p:cNvPr>
          <p:cNvSpPr>
            <a:spLocks xmlns:a="http://schemas.openxmlformats.org/drawingml/2006/main" noGrp="1"/>
          </p:cNvSpPr>
          <p:nvPr/>
        </p:nvSpPr>
        <p:spPr>
          <a:xfrm xmlns:a="http://schemas.openxmlformats.org/drawingml/2006/main">
            <a:off x="781050" y="520065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05</a:t>
            </a:r>
          </a:p>
        </p:txBody>
      </p:sp>
      <p:sp>
        <p:nvSpPr>
          <p:cNvPr id="17" name="">
            <a:extLst xmlns:a="http://schemas.openxmlformats.org/drawingml/2006/main">
              <a:ext uri="{FF2B5EF4-FFF2-40B4-BE49-F238E27FC236}">
                <a16:creationId xmlns:a16="http://schemas.microsoft.com/office/drawing/2014/main" id="{A783F2FB-2839-4DAD-8493-43BEFA178980}"/>
              </a:ext>
            </a:extLst>
          </p:cNvPr>
          <p:cNvSpPr>
            <a:spLocks xmlns:a="http://schemas.openxmlformats.org/drawingml/2006/main" noGrp="1"/>
          </p:cNvSpPr>
          <p:nvPr/>
        </p:nvSpPr>
        <p:spPr>
          <a:xfrm xmlns:a="http://schemas.openxmlformats.org/drawingml/2006/main">
            <a:off x="1619250" y="5200650"/>
            <a:ext cx="1619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42B3B"/>
                </a:solidFill>
                <a:latin typeface="Fira Sans"/>
                <a:ea typeface="Fira Sans"/>
                <a:cs typeface="Fira Sans"/>
              </a:defRPr>
            </a:pPr>
            <a:r>
              <a:rPr sz="2025" b="1">
                <a:solidFill>
                  <a:srgbClr val="142B3B"/>
                </a:solidFill>
                <a:latin typeface="Fira Sans"/>
                <a:ea typeface="Fira Sans"/>
                <a:cs typeface="Fira Sans"/>
              </a:rPr>
              <a:t>Save?</a:t>
            </a:r>
          </a:p>
        </p:txBody>
      </p:sp>
      <p:sp>
        <p:nvSpPr>
          <p:cNvPr id="18" name="">
            <a:extLst xmlns:a="http://schemas.openxmlformats.org/drawingml/2006/main">
              <a:ext uri="{FF2B5EF4-FFF2-40B4-BE49-F238E27FC236}">
                <a16:creationId xmlns:a16="http://schemas.microsoft.com/office/drawing/2014/main" id="{A2FC8E46-608B-46AC-A378-568A281A054E}"/>
              </a:ext>
            </a:extLst>
          </p:cNvPr>
          <p:cNvSpPr>
            <a:spLocks xmlns:a="http://schemas.openxmlformats.org/drawingml/2006/main" noGrp="1"/>
          </p:cNvSpPr>
          <p:nvPr/>
        </p:nvSpPr>
        <p:spPr>
          <a:xfrm xmlns:a="http://schemas.openxmlformats.org/drawingml/2006/main">
            <a:off x="3429000" y="5200650"/>
            <a:ext cx="781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73042"/>
                </a:solidFill>
                <a:latin typeface="Fira Sans"/>
                <a:ea typeface="Fira Sans"/>
                <a:cs typeface="Fira Sans"/>
              </a:defRPr>
            </a:pPr>
            <a:r>
              <a:rPr sz="1875" b="0">
                <a:solidFill>
                  <a:srgbClr val="173042"/>
                </a:solidFill>
                <a:latin typeface="Fira Sans"/>
                <a:ea typeface="Fira Sans"/>
                <a:cs typeface="Fira Sans"/>
              </a:rPr>
              <a:t>Define whether drawings persist or are shared</a:t>
            </a:r>
          </a:p>
        </p:txBody>
      </p:sp>
    </p:spTree>
    <p:extLst>
      <p:ext uri="{BB962C8B-B14F-4D97-AF65-F5344CB8AC3E}">
        <p14:creationId xmlns:p14="http://schemas.microsoft.com/office/powerpoint/2010/main" val="386545151"/>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0446F10-33C3-49B3-B6A3-3205FB04C9F4}"/>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42B3B"/>
                </a:solidFill>
                <a:latin typeface="Fira Sans"/>
                <a:ea typeface="Fira Sans"/>
                <a:cs typeface="Fira Sans"/>
              </a:defRPr>
            </a:pPr>
            <a:r>
              <a:rPr sz="3300" b="1">
                <a:solidFill>
                  <a:srgbClr val="142B3B"/>
                </a:solidFill>
                <a:latin typeface="Fira Sans"/>
                <a:ea typeface="Fira Sans"/>
                <a:cs typeface="Fira Sans"/>
              </a:rPr>
              <a:t>Konva canvas and toolbar icon</a:t>
            </a:r>
          </a:p>
        </p:txBody>
      </p:sp>
      <p:sp>
        <p:nvSpPr>
          <p:cNvPr id="2" name="">
            <a:extLst xmlns:a="http://schemas.openxmlformats.org/drawingml/2006/main">
              <a:ext uri="{FF2B5EF4-FFF2-40B4-BE49-F238E27FC236}">
                <a16:creationId xmlns:a16="http://schemas.microsoft.com/office/drawing/2014/main" id="{1C79040F-D363-4E58-B6D5-0BB32CF87B2C}"/>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52616B"/>
                </a:solidFill>
                <a:latin typeface="Fira Sans"/>
                <a:ea typeface="Fira Sans"/>
                <a:cs typeface="Fira Sans"/>
              </a:defRPr>
            </a:pPr>
            <a:r>
              <a:rPr sz="1200" b="0">
                <a:solidFill>
                  <a:srgbClr val="52616B"/>
                </a:solidFill>
                <a:latin typeface="Fira Sans"/>
                <a:ea typeface="Fira Sans"/>
                <a:cs typeface="Fira Sans"/>
              </a:rPr>
              <a:t>SPRINT 1  /  05</a:t>
            </a:r>
          </a:p>
        </p:txBody>
      </p:sp>
      <p:sp>
        <p:nvSpPr>
          <p:cNvPr id="3" name="">
            <a:extLst xmlns:a="http://schemas.openxmlformats.org/drawingml/2006/main">
              <a:ext uri="{FF2B5EF4-FFF2-40B4-BE49-F238E27FC236}">
                <a16:creationId xmlns:a16="http://schemas.microsoft.com/office/drawing/2014/main" id="{C0BEF0DF-E8B7-41A0-8A82-C4A203922475}"/>
              </a:ext>
            </a:extLst>
          </p:cNvPr>
          <p:cNvSpPr>
            <a:spLocks xmlns:a="http://schemas.openxmlformats.org/drawingml/2006/main" noGrp="1"/>
          </p:cNvSpPr>
          <p:nvPr/>
        </p:nvSpPr>
        <p:spPr>
          <a:xfrm xmlns:a="http://schemas.openxmlformats.org/drawingml/2006/main">
            <a:off x="781050" y="15811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Canvas behavior</a:t>
            </a:r>
          </a:p>
        </p:txBody>
      </p:sp>
      <p:sp>
        <p:nvSpPr>
          <p:cNvPr id="4" name="">
            <a:extLst xmlns:a="http://schemas.openxmlformats.org/drawingml/2006/main">
              <a:ext uri="{FF2B5EF4-FFF2-40B4-BE49-F238E27FC236}">
                <a16:creationId xmlns:a16="http://schemas.microsoft.com/office/drawing/2014/main" id="{42714346-6C6E-4A70-8A3A-5F831E04DD5D}"/>
              </a:ext>
            </a:extLst>
          </p:cNvPr>
          <p:cNvSpPr>
            <a:spLocks xmlns:a="http://schemas.openxmlformats.org/drawingml/2006/main" noGrp="1"/>
          </p:cNvSpPr>
          <p:nvPr/>
        </p:nvSpPr>
        <p:spPr>
          <a:xfrm xmlns:a="http://schemas.openxmlformats.org/drawingml/2006/main">
            <a:off x="781050" y="1981200"/>
            <a:ext cx="4762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Konva through react-konva is the proposed drawing layer in the React UI. It would manage the canvas scene and freehand stroke interactions.</a:t>
            </a:r>
          </a:p>
        </p:txBody>
      </p:sp>
      <p:sp>
        <p:nvSpPr>
          <p:cNvPr id="5" name="">
            <a:extLst xmlns:a="http://schemas.openxmlformats.org/drawingml/2006/main">
              <a:ext uri="{FF2B5EF4-FFF2-40B4-BE49-F238E27FC236}">
                <a16:creationId xmlns:a16="http://schemas.microsoft.com/office/drawing/2014/main" id="{C36B9C11-43AC-4173-BEF3-D64145274F7B}"/>
              </a:ext>
            </a:extLst>
          </p:cNvPr>
          <p:cNvSpPr>
            <a:spLocks xmlns:a="http://schemas.openxmlformats.org/drawingml/2006/main" noGrp="1"/>
          </p:cNvSpPr>
          <p:nvPr/>
        </p:nvSpPr>
        <p:spPr>
          <a:xfrm xmlns:a="http://schemas.openxmlformats.org/drawingml/2006/main">
            <a:off x="6477000" y="15811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Icon behavior</a:t>
            </a:r>
          </a:p>
        </p:txBody>
      </p:sp>
      <p:sp>
        <p:nvSpPr>
          <p:cNvPr id="6" name="">
            <a:extLst xmlns:a="http://schemas.openxmlformats.org/drawingml/2006/main">
              <a:ext uri="{FF2B5EF4-FFF2-40B4-BE49-F238E27FC236}">
                <a16:creationId xmlns:a16="http://schemas.microsoft.com/office/drawing/2014/main" id="{9B5AAF67-71CB-416B-9DEC-01D1CD8CDC6B}"/>
              </a:ext>
            </a:extLst>
          </p:cNvPr>
          <p:cNvSpPr>
            <a:spLocks xmlns:a="http://schemas.openxmlformats.org/drawingml/2006/main" noGrp="1"/>
          </p:cNvSpPr>
          <p:nvPr/>
        </p:nvSpPr>
        <p:spPr>
          <a:xfrm xmlns:a="http://schemas.openxmlformats.org/drawingml/2006/main">
            <a:off x="6477000" y="1981200"/>
            <a:ext cx="4857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The icon is a separate toolbar asset. A pencil or pen symbol is a proposal; keep an accessible name such as “Free draw.”</a:t>
            </a:r>
          </a:p>
        </p:txBody>
      </p:sp>
      <p:sp>
        <p:nvSpPr>
          <p:cNvPr id="7" name="">
            <a:extLst xmlns:a="http://schemas.openxmlformats.org/drawingml/2006/main">
              <a:ext uri="{FF2B5EF4-FFF2-40B4-BE49-F238E27FC236}">
                <a16:creationId xmlns:a16="http://schemas.microsoft.com/office/drawing/2014/main" id="{CD42B382-54F3-4C05-9047-C1F96F5C35BC}"/>
              </a:ext>
            </a:extLst>
          </p:cNvPr>
          <p:cNvSpPr>
            <a:spLocks xmlns:a="http://schemas.openxmlformats.org/drawingml/2006/main" noGrp="1"/>
          </p:cNvSpPr>
          <p:nvPr/>
        </p:nvSpPr>
        <p:spPr>
          <a:xfrm xmlns:a="http://schemas.openxmlformats.org/drawingml/2006/main">
            <a:off x="781050" y="417195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Still to choose</a:t>
            </a:r>
          </a:p>
        </p:txBody>
      </p:sp>
      <p:sp>
        <p:nvSpPr>
          <p:cNvPr id="8" name="">
            <a:extLst xmlns:a="http://schemas.openxmlformats.org/drawingml/2006/main">
              <a:ext uri="{FF2B5EF4-FFF2-40B4-BE49-F238E27FC236}">
                <a16:creationId xmlns:a16="http://schemas.microsoft.com/office/drawing/2014/main" id="{49ACA654-1794-44D6-9E14-1C6D26AEC262}"/>
              </a:ext>
            </a:extLst>
          </p:cNvPr>
          <p:cNvSpPr>
            <a:spLocks xmlns:a="http://schemas.openxmlformats.org/drawingml/2006/main" noGrp="1"/>
          </p:cNvSpPr>
          <p:nvPr/>
        </p:nvSpPr>
        <p:spPr>
          <a:xfrm xmlns:a="http://schemas.openxmlformats.org/drawingml/2006/main">
            <a:off x="781050" y="4619625"/>
            <a:ext cx="1019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0">
                <a:solidFill>
                  <a:srgbClr val="173042"/>
                </a:solidFill>
                <a:latin typeface="Fira Sans"/>
                <a:ea typeface="Fira Sans"/>
                <a:cs typeface="Fira Sans"/>
              </a:defRPr>
            </a:pPr>
            <a:r>
              <a:rPr sz="1950" b="0">
                <a:solidFill>
                  <a:srgbClr val="173042"/>
                </a:solidFill>
                <a:latin typeface="Fira Sans"/>
                <a:ea typeface="Fira Sans"/>
                <a:cs typeface="Fira Sans"/>
              </a:rPr>
              <a:t>Use an approved icon set, add an icon package such as Radix Icons if selected, or use a project-owned SVG. Radix UI primitives do not by themselves settle the icon choice.</a:t>
            </a:r>
          </a:p>
        </p:txBody>
      </p:sp>
    </p:spTree>
    <p:extLst>
      <p:ext uri="{BB962C8B-B14F-4D97-AF65-F5344CB8AC3E}">
        <p14:creationId xmlns:p14="http://schemas.microsoft.com/office/powerpoint/2010/main" val="1369140221"/>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9D9E6EA-4EC1-40BC-B612-D17C15372B73}"/>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42B3B"/>
                </a:solidFill>
                <a:latin typeface="Fira Sans"/>
                <a:ea typeface="Fira Sans"/>
                <a:cs typeface="Fira Sans"/>
              </a:defRPr>
            </a:pPr>
            <a:r>
              <a:rPr sz="3300" b="1">
                <a:solidFill>
                  <a:srgbClr val="142B3B"/>
                </a:solidFill>
                <a:latin typeface="Fira Sans"/>
                <a:ea typeface="Fira Sans"/>
                <a:cs typeface="Fira Sans"/>
              </a:rPr>
              <a:t>Decisions before implementation</a:t>
            </a:r>
          </a:p>
        </p:txBody>
      </p:sp>
      <p:sp>
        <p:nvSpPr>
          <p:cNvPr id="2" name="">
            <a:extLst xmlns:a="http://schemas.openxmlformats.org/drawingml/2006/main">
              <a:ext uri="{FF2B5EF4-FFF2-40B4-BE49-F238E27FC236}">
                <a16:creationId xmlns:a16="http://schemas.microsoft.com/office/drawing/2014/main" id="{547BCD64-F0EA-4B43-998F-65CA4F679690}"/>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52616B"/>
                </a:solidFill>
                <a:latin typeface="Fira Sans"/>
                <a:ea typeface="Fira Sans"/>
                <a:cs typeface="Fira Sans"/>
              </a:defRPr>
            </a:pPr>
            <a:r>
              <a:rPr sz="1200" b="0">
                <a:solidFill>
                  <a:srgbClr val="52616B"/>
                </a:solidFill>
                <a:latin typeface="Fira Sans"/>
                <a:ea typeface="Fira Sans"/>
                <a:cs typeface="Fira Sans"/>
              </a:rPr>
              <a:t>SPRINT 1  /  06</a:t>
            </a:r>
          </a:p>
        </p:txBody>
      </p:sp>
      <p:sp>
        <p:nvSpPr>
          <p:cNvPr id="3" name="">
            <a:extLst xmlns:a="http://schemas.openxmlformats.org/drawingml/2006/main">
              <a:ext uri="{FF2B5EF4-FFF2-40B4-BE49-F238E27FC236}">
                <a16:creationId xmlns:a16="http://schemas.microsoft.com/office/drawing/2014/main" id="{51231B5B-0786-4010-9C6C-DADBABCF75E5}"/>
              </a:ext>
            </a:extLst>
          </p:cNvPr>
          <p:cNvSpPr>
            <a:spLocks xmlns:a="http://schemas.openxmlformats.org/drawingml/2006/main" noGrp="1"/>
          </p:cNvSpPr>
          <p:nvPr/>
        </p:nvSpPr>
        <p:spPr>
          <a:xfrm xmlns:a="http://schemas.openxmlformats.org/drawingml/2006/main">
            <a:off x="781050" y="146685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Persistence</a:t>
            </a:r>
          </a:p>
        </p:txBody>
      </p:sp>
      <p:sp>
        <p:nvSpPr>
          <p:cNvPr id="4" name="">
            <a:extLst xmlns:a="http://schemas.openxmlformats.org/drawingml/2006/main">
              <a:ext uri="{FF2B5EF4-FFF2-40B4-BE49-F238E27FC236}">
                <a16:creationId xmlns:a16="http://schemas.microsoft.com/office/drawing/2014/main" id="{3C1A2EE2-A018-4236-9CE9-C99170F60968}"/>
              </a:ext>
            </a:extLst>
          </p:cNvPr>
          <p:cNvSpPr>
            <a:spLocks xmlns:a="http://schemas.openxmlformats.org/drawingml/2006/main" noGrp="1"/>
          </p:cNvSpPr>
          <p:nvPr/>
        </p:nvSpPr>
        <p:spPr>
          <a:xfrm xmlns:a="http://schemas.openxmlformats.org/drawingml/2006/main">
            <a:off x="781050" y="1866900"/>
            <a:ext cx="4762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What object owns a drawing? Save manually or automatically? Who can view, edit, and delete it?</a:t>
            </a:r>
          </a:p>
        </p:txBody>
      </p:sp>
      <p:sp>
        <p:nvSpPr>
          <p:cNvPr id="5" name="">
            <a:extLst xmlns:a="http://schemas.openxmlformats.org/drawingml/2006/main">
              <a:ext uri="{FF2B5EF4-FFF2-40B4-BE49-F238E27FC236}">
                <a16:creationId xmlns:a16="http://schemas.microsoft.com/office/drawing/2014/main" id="{B0555EF9-4A15-4837-8CFF-2DF6236C106A}"/>
              </a:ext>
            </a:extLst>
          </p:cNvPr>
          <p:cNvSpPr>
            <a:spLocks xmlns:a="http://schemas.openxmlformats.org/drawingml/2006/main" noGrp="1"/>
          </p:cNvSpPr>
          <p:nvPr/>
        </p:nvSpPr>
        <p:spPr>
          <a:xfrm xmlns:a="http://schemas.openxmlformats.org/drawingml/2006/main">
            <a:off x="6477000" y="1466850"/>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Collaboration</a:t>
            </a:r>
          </a:p>
        </p:txBody>
      </p:sp>
      <p:sp>
        <p:nvSpPr>
          <p:cNvPr id="6" name="">
            <a:extLst xmlns:a="http://schemas.openxmlformats.org/drawingml/2006/main">
              <a:ext uri="{FF2B5EF4-FFF2-40B4-BE49-F238E27FC236}">
                <a16:creationId xmlns:a16="http://schemas.microsoft.com/office/drawing/2014/main" id="{5F7FA4CB-EB71-4FBC-95AA-2CBC339F187F}"/>
              </a:ext>
            </a:extLst>
          </p:cNvPr>
          <p:cNvSpPr>
            <a:spLocks xmlns:a="http://schemas.openxmlformats.org/drawingml/2006/main" noGrp="1"/>
          </p:cNvSpPr>
          <p:nvPr/>
        </p:nvSpPr>
        <p:spPr>
          <a:xfrm xmlns:a="http://schemas.openxmlformats.org/drawingml/2006/main">
            <a:off x="6477000" y="1866900"/>
            <a:ext cx="4857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Is this an individual sketch or a shared whiteboard? Channels is in the stack, but live drawing is not assumed.</a:t>
            </a:r>
          </a:p>
        </p:txBody>
      </p:sp>
      <p:sp>
        <p:nvSpPr>
          <p:cNvPr id="7" name="">
            <a:extLst xmlns:a="http://schemas.openxmlformats.org/drawingml/2006/main">
              <a:ext uri="{FF2B5EF4-FFF2-40B4-BE49-F238E27FC236}">
                <a16:creationId xmlns:a16="http://schemas.microsoft.com/office/drawing/2014/main" id="{495E0499-0ED2-4FB8-852E-2C9DFE2AAD2E}"/>
              </a:ext>
            </a:extLst>
          </p:cNvPr>
          <p:cNvSpPr>
            <a:spLocks xmlns:a="http://schemas.openxmlformats.org/drawingml/2006/main" noGrp="1"/>
          </p:cNvSpPr>
          <p:nvPr/>
        </p:nvSpPr>
        <p:spPr>
          <a:xfrm xmlns:a="http://schemas.openxmlformats.org/drawingml/2006/main">
            <a:off x="781050" y="38576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AI use</a:t>
            </a:r>
          </a:p>
        </p:txBody>
      </p:sp>
      <p:sp>
        <p:nvSpPr>
          <p:cNvPr id="8" name="">
            <a:extLst xmlns:a="http://schemas.openxmlformats.org/drawingml/2006/main">
              <a:ext uri="{FF2B5EF4-FFF2-40B4-BE49-F238E27FC236}">
                <a16:creationId xmlns:a16="http://schemas.microsoft.com/office/drawing/2014/main" id="{154A9F54-914C-4DC3-A2EE-581DA9D0A4F1}"/>
              </a:ext>
            </a:extLst>
          </p:cNvPr>
          <p:cNvSpPr>
            <a:spLocks xmlns:a="http://schemas.openxmlformats.org/drawingml/2006/main" noGrp="1"/>
          </p:cNvSpPr>
          <p:nvPr/>
        </p:nvSpPr>
        <p:spPr>
          <a:xfrm xmlns:a="http://schemas.openxmlformats.org/drawingml/2006/main">
            <a:off x="781050" y="4257675"/>
            <a:ext cx="4762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No drawing-to-AI behavior is defined. Confirm whether sketches may ever be sent to Azure OpenAI.</a:t>
            </a:r>
          </a:p>
        </p:txBody>
      </p:sp>
      <p:sp>
        <p:nvSpPr>
          <p:cNvPr id="9" name="">
            <a:extLst xmlns:a="http://schemas.openxmlformats.org/drawingml/2006/main">
              <a:ext uri="{FF2B5EF4-FFF2-40B4-BE49-F238E27FC236}">
                <a16:creationId xmlns:a16="http://schemas.microsoft.com/office/drawing/2014/main" id="{D4B8F6F5-7FC7-46C7-81EE-206EAFCF0388}"/>
              </a:ext>
            </a:extLst>
          </p:cNvPr>
          <p:cNvSpPr>
            <a:spLocks xmlns:a="http://schemas.openxmlformats.org/drawingml/2006/main" noGrp="1"/>
          </p:cNvSpPr>
          <p:nvPr/>
        </p:nvSpPr>
        <p:spPr>
          <a:xfrm xmlns:a="http://schemas.openxmlformats.org/drawingml/2006/main">
            <a:off x="6477000" y="3857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Interaction</a:t>
            </a:r>
          </a:p>
        </p:txBody>
      </p:sp>
      <p:sp>
        <p:nvSpPr>
          <p:cNvPr id="10" name="">
            <a:extLst xmlns:a="http://schemas.openxmlformats.org/drawingml/2006/main">
              <a:ext uri="{FF2B5EF4-FFF2-40B4-BE49-F238E27FC236}">
                <a16:creationId xmlns:a16="http://schemas.microsoft.com/office/drawing/2014/main" id="{011F0F51-EDB0-4C98-9A78-FEB5C941E252}"/>
              </a:ext>
            </a:extLst>
          </p:cNvPr>
          <p:cNvSpPr>
            <a:spLocks xmlns:a="http://schemas.openxmlformats.org/drawingml/2006/main" noGrp="1"/>
          </p:cNvSpPr>
          <p:nvPr/>
        </p:nvSpPr>
        <p:spPr>
          <a:xfrm xmlns:a="http://schemas.openxmlformats.org/drawingml/2006/main">
            <a:off x="6477000" y="4257675"/>
            <a:ext cx="48577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725" b="0">
                <a:solidFill>
                  <a:srgbClr val="173042"/>
                </a:solidFill>
                <a:latin typeface="Fira Sans"/>
                <a:ea typeface="Fira Sans"/>
                <a:cs typeface="Fira Sans"/>
              </a:defRPr>
            </a:pPr>
            <a:r>
              <a:rPr sz="1725" b="0">
                <a:solidFill>
                  <a:srgbClr val="173042"/>
                </a:solidFill>
                <a:latin typeface="Fira Sans"/>
                <a:ea typeface="Fira Sans"/>
                <a:cs typeface="Fira Sans"/>
              </a:rPr>
              <a:t>Confirm mouse, touch, or stylus support and whether users need color, stroke width, eraser, undo, or redo.</a:t>
            </a:r>
          </a:p>
        </p:txBody>
      </p:sp>
    </p:spTree>
    <p:extLst>
      <p:ext uri="{BB962C8B-B14F-4D97-AF65-F5344CB8AC3E}">
        <p14:creationId xmlns:p14="http://schemas.microsoft.com/office/powerpoint/2010/main" val="740643029"/>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D8127-0E55-4B2A-8832-9E0BB80717E0}"/>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42B3B"/>
                </a:solidFill>
                <a:latin typeface="Fira Sans"/>
                <a:ea typeface="Fira Sans"/>
                <a:cs typeface="Fira Sans"/>
              </a:defRPr>
            </a:pPr>
            <a:r>
              <a:rPr sz="3300" b="1">
                <a:solidFill>
                  <a:srgbClr val="142B3B"/>
                </a:solidFill>
                <a:latin typeface="Fira Sans"/>
                <a:ea typeface="Fira Sans"/>
                <a:cs typeface="Fira Sans"/>
              </a:rPr>
              <a:t>Sprint 1 outputs</a:t>
            </a:r>
          </a:p>
        </p:txBody>
      </p:sp>
      <p:sp>
        <p:nvSpPr>
          <p:cNvPr id="2" name="">
            <a:extLst xmlns:a="http://schemas.openxmlformats.org/drawingml/2006/main">
              <a:ext uri="{FF2B5EF4-FFF2-40B4-BE49-F238E27FC236}">
                <a16:creationId xmlns:a16="http://schemas.microsoft.com/office/drawing/2014/main" id="{8B418877-D653-4DD5-BEFC-107E43A7FFBB}"/>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52616B"/>
                </a:solidFill>
                <a:latin typeface="Fira Sans"/>
                <a:ea typeface="Fira Sans"/>
                <a:cs typeface="Fira Sans"/>
              </a:defRPr>
            </a:pPr>
            <a:r>
              <a:rPr sz="1200" b="0">
                <a:solidFill>
                  <a:srgbClr val="52616B"/>
                </a:solidFill>
                <a:latin typeface="Fira Sans"/>
                <a:ea typeface="Fira Sans"/>
                <a:cs typeface="Fira Sans"/>
              </a:rPr>
              <a:t>SPRINT 1  /  07</a:t>
            </a:r>
          </a:p>
        </p:txBody>
      </p:sp>
      <p:sp>
        <p:nvSpPr>
          <p:cNvPr id="3" name="">
            <a:extLst xmlns:a="http://schemas.openxmlformats.org/drawingml/2006/main">
              <a:ext uri="{FF2B5EF4-FFF2-40B4-BE49-F238E27FC236}">
                <a16:creationId xmlns:a16="http://schemas.microsoft.com/office/drawing/2014/main" id="{2F546591-346C-4DD9-BACB-F9ABBED7BA84}"/>
              </a:ext>
            </a:extLst>
          </p:cNvPr>
          <p:cNvSpPr>
            <a:spLocks xmlns:a="http://schemas.openxmlformats.org/drawingml/2006/main" noGrp="1"/>
          </p:cNvSpPr>
          <p:nvPr/>
        </p:nvSpPr>
        <p:spPr>
          <a:xfrm xmlns:a="http://schemas.openxmlformats.org/drawingml/2006/main">
            <a:off x="781050" y="1485900"/>
            <a:ext cx="228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00"/>
          </a:bodyPr>
          <a:lstStyle xmlns:a="http://schemas.openxmlformats.org/drawingml/2006/main"/>
          <a:p xmlns:a="http://schemas.openxmlformats.org/drawingml/2006/main">
            <a:pPr>
              <a:defRPr sz="1875" b="1">
                <a:solidFill>
                  <a:srgbClr val="197E78"/>
                </a:solidFill>
                <a:latin typeface="Fira Sans"/>
                <a:ea typeface="Fira Sans"/>
                <a:cs typeface="Fira Sans"/>
              </a:defRPr>
            </a:pPr>
            <a:r>
              <a:rPr sz="1875" b="1">
                <a:solidFill>
                  <a:srgbClr val="197E78"/>
                </a:solidFill>
                <a:latin typeface="Fira Sans"/>
                <a:ea typeface="Fira Sans"/>
                <a:cs typeface="Fira Sans"/>
              </a:rPr>
              <a:t>Recorded</a:t>
            </a:r>
          </a:p>
        </p:txBody>
      </p:sp>
      <p:sp>
        <p:nvSpPr>
          <p:cNvPr id="4" name="">
            <a:extLst xmlns:a="http://schemas.openxmlformats.org/drawingml/2006/main">
              <a:ext uri="{FF2B5EF4-FFF2-40B4-BE49-F238E27FC236}">
                <a16:creationId xmlns:a16="http://schemas.microsoft.com/office/drawing/2014/main" id="{DDA22EC8-F890-4390-8359-E06D15EA0751}"/>
              </a:ext>
            </a:extLst>
          </p:cNvPr>
          <p:cNvSpPr>
            <a:spLocks xmlns:a="http://schemas.openxmlformats.org/drawingml/2006/main" noGrp="1"/>
          </p:cNvSpPr>
          <p:nvPr/>
        </p:nvSpPr>
        <p:spPr>
          <a:xfrm xmlns:a="http://schemas.openxmlformats.org/drawingml/2006/main">
            <a:off x="781050" y="20002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Proposed target technology stack</a:t>
            </a:r>
          </a:p>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Initial free-draw feature flow</a:t>
            </a:r>
          </a:p>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Konva and icon responsibilities</a:t>
            </a:r>
          </a:p>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Open product and architecture questions</a:t>
            </a:r>
          </a:p>
        </p:txBody>
      </p:sp>
      <p:sp>
        <p:nvSpPr>
          <p:cNvPr id="5" name="">
            <a:extLst xmlns:a="http://schemas.openxmlformats.org/drawingml/2006/main">
              <a:ext uri="{FF2B5EF4-FFF2-40B4-BE49-F238E27FC236}">
                <a16:creationId xmlns:a16="http://schemas.microsoft.com/office/drawing/2014/main" id="{B99E68E0-B9C0-4033-8ADC-EB0FBE4D1A53}"/>
              </a:ext>
            </a:extLst>
          </p:cNvPr>
          <p:cNvSpPr>
            <a:spLocks xmlns:a="http://schemas.openxmlformats.org/drawingml/2006/main" noGrp="1"/>
          </p:cNvSpPr>
          <p:nvPr/>
        </p:nvSpPr>
        <p:spPr>
          <a:xfrm xmlns:a="http://schemas.openxmlformats.org/drawingml/2006/main">
            <a:off x="6477000" y="14859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8000"/>
          </a:bodyPr>
          <a:lstStyle xmlns:a="http://schemas.openxmlformats.org/drawingml/2006/main"/>
          <a:p xmlns:a="http://schemas.openxmlformats.org/drawingml/2006/main">
            <a:pPr>
              <a:defRPr sz="1875" b="1">
                <a:solidFill>
                  <a:srgbClr val="D9703E"/>
                </a:solidFill>
                <a:latin typeface="Fira Sans"/>
                <a:ea typeface="Fira Sans"/>
                <a:cs typeface="Fira Sans"/>
              </a:defRPr>
            </a:pPr>
            <a:r>
              <a:rPr sz="1875" b="1">
                <a:solidFill>
                  <a:srgbClr val="D9703E"/>
                </a:solidFill>
                <a:latin typeface="Fira Sans"/>
                <a:ea typeface="Fira Sans"/>
                <a:cs typeface="Fira Sans"/>
              </a:rPr>
              <a:t>Not available yet</a:t>
            </a:r>
          </a:p>
        </p:txBody>
      </p:sp>
      <p:sp>
        <p:nvSpPr>
          <p:cNvPr id="6" name="">
            <a:extLst xmlns:a="http://schemas.openxmlformats.org/drawingml/2006/main">
              <a:ext uri="{FF2B5EF4-FFF2-40B4-BE49-F238E27FC236}">
                <a16:creationId xmlns:a16="http://schemas.microsoft.com/office/drawing/2014/main" id="{CEAFEBC4-5D97-41A7-A472-CCDADB76F24C}"/>
              </a:ext>
            </a:extLst>
          </p:cNvPr>
          <p:cNvSpPr>
            <a:spLocks xmlns:a="http://schemas.openxmlformats.org/drawingml/2006/main" noGrp="1"/>
          </p:cNvSpPr>
          <p:nvPr/>
        </p:nvSpPr>
        <p:spPr>
          <a:xfrm xmlns:a="http://schemas.openxmlformats.org/drawingml/2006/main">
            <a:off x="6477000" y="20002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Client code or implementation handoff</a:t>
            </a:r>
          </a:p>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Approved requirements and UX decisions</a:t>
            </a:r>
          </a:p>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Working software or test evidence</a:t>
            </a:r>
          </a:p>
          <a:p xmlns:a="http://schemas.openxmlformats.org/drawingml/2006/main">
            <a:pPr marL="254000" indent="-152400">
              <a:spcAft>
                <a:spcPts val="900"/>
              </a:spcAft>
              <a:buChar char="•"/>
              <a:defRPr sz="1875">
                <a:solidFill>
                  <a:srgbClr val="173042"/>
                </a:solidFill>
                <a:latin typeface="Fira Sans"/>
                <a:ea typeface="Fira Sans"/>
                <a:cs typeface="Fira Sans"/>
              </a:defRPr>
            </a:pPr>
            <a:r>
              <a:rPr sz="1875">
                <a:solidFill>
                  <a:srgbClr val="173042"/>
                </a:solidFill>
                <a:latin typeface="Fira Sans"/>
                <a:ea typeface="Fira Sans"/>
                <a:cs typeface="Fira Sans"/>
              </a:rPr>
              <a:t>Sprint dates, attendee list, and recording</a:t>
            </a:r>
          </a:p>
        </p:txBody>
      </p:sp>
      <p:sp>
        <p:nvSpPr>
          <p:cNvPr id="7" name="">
            <a:extLst xmlns:a="http://schemas.openxmlformats.org/drawingml/2006/main">
              <a:ext uri="{FF2B5EF4-FFF2-40B4-BE49-F238E27FC236}">
                <a16:creationId xmlns:a16="http://schemas.microsoft.com/office/drawing/2014/main" id="{2B6306BC-9AAC-4CBF-ADFA-8AEBEA6C77B6}"/>
              </a:ext>
            </a:extLst>
          </p:cNvPr>
          <p:cNvSpPr>
            <a:spLocks xmlns:a="http://schemas.openxmlformats.org/drawingml/2006/main" noGrp="1"/>
          </p:cNvSpPr>
          <p:nvPr/>
        </p:nvSpPr>
        <p:spPr>
          <a:xfrm xmlns:a="http://schemas.openxmlformats.org/drawingml/2006/main">
            <a:off x="781050" y="50292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b="1">
                <a:solidFill>
                  <a:srgbClr val="142B3B"/>
                </a:solidFill>
                <a:latin typeface="Fira Sans"/>
                <a:ea typeface="Fira Sans"/>
                <a:cs typeface="Fira Sans"/>
              </a:defRPr>
            </a:pPr>
            <a:r>
              <a:rPr sz="2025" b="1">
                <a:solidFill>
                  <a:srgbClr val="142B3B"/>
                </a:solidFill>
                <a:latin typeface="Fira Sans"/>
                <a:ea typeface="Fira Sans"/>
                <a:cs typeface="Fira Sans"/>
              </a:rPr>
              <a:t>Review these notes with the client and team before baselining the plan.</a:t>
            </a:r>
          </a:p>
        </p:txBody>
      </p:sp>
    </p:spTree>
    <p:extLst>
      <p:ext uri="{BB962C8B-B14F-4D97-AF65-F5344CB8AC3E}">
        <p14:creationId xmlns:p14="http://schemas.microsoft.com/office/powerpoint/2010/main" val="1566409537"/>
      </p:ext>
    </p:extLst>
  </p:cSld>
</p:sld>
</file>

<file path=ppt/slides/slide8.xml><?xml version="1.0" encoding="utf-8"?>
<p:sld xmlns:p="http://schemas.openxmlformats.org/presentationml/2006/main">
  <p:cSld>
    <p:bg>
      <p:bgPr>
        <a:solidFill xmlns:a="http://schemas.openxmlformats.org/drawingml/2006/main">
          <a:srgbClr val="142B3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B9F9BD-A583-473C-9746-E01CC7160280}"/>
              </a:ext>
            </a:extLst>
          </p:cNvPr>
          <p:cNvSpPr>
            <a:spLocks xmlns:a="http://schemas.openxmlformats.org/drawingml/2006/main" noGrp="1"/>
          </p:cNvSpPr>
          <p:nvPr/>
        </p:nvSpPr>
        <p:spPr>
          <a:xfrm xmlns:a="http://schemas.openxmlformats.org/drawingml/2006/main">
            <a:off x="723900" y="514350"/>
            <a:ext cx="10744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FFFFFF"/>
                </a:solidFill>
                <a:latin typeface="Fira Sans"/>
                <a:ea typeface="Fira Sans"/>
                <a:cs typeface="Fira Sans"/>
              </a:defRPr>
            </a:pPr>
            <a:r>
              <a:rPr sz="3300" b="1">
                <a:solidFill>
                  <a:srgbClr val="FFFFFF"/>
                </a:solidFill>
                <a:latin typeface="Fira Sans"/>
                <a:ea typeface="Fira Sans"/>
                <a:cs typeface="Fira Sans"/>
              </a:rPr>
              <a:t>Client and team discussion</a:t>
            </a:r>
          </a:p>
        </p:txBody>
      </p:sp>
      <p:sp>
        <p:nvSpPr>
          <p:cNvPr id="2" name="">
            <a:extLst xmlns:a="http://schemas.openxmlformats.org/drawingml/2006/main">
              <a:ext uri="{FF2B5EF4-FFF2-40B4-BE49-F238E27FC236}">
                <a16:creationId xmlns:a16="http://schemas.microsoft.com/office/drawing/2014/main" id="{263BE294-21CA-488F-B987-60C6C707647F}"/>
              </a:ext>
            </a:extLst>
          </p:cNvPr>
          <p:cNvSpPr>
            <a:spLocks xmlns:a="http://schemas.openxmlformats.org/drawingml/2006/main" noGrp="1"/>
          </p:cNvSpPr>
          <p:nvPr/>
        </p:nvSpPr>
        <p:spPr>
          <a:xfrm xmlns:a="http://schemas.openxmlformats.org/drawingml/2006/main">
            <a:off x="723900" y="6343650"/>
            <a:ext cx="1074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5000"/>
          </a:bodyPr>
          <a:lstStyle xmlns:a="http://schemas.openxmlformats.org/drawingml/2006/main"/>
          <a:p xmlns:a="http://schemas.openxmlformats.org/drawingml/2006/main">
            <a:pPr>
              <a:defRPr sz="1200" b="0">
                <a:solidFill>
                  <a:srgbClr val="D9E8E4"/>
                </a:solidFill>
                <a:latin typeface="Fira Sans"/>
                <a:ea typeface="Fira Sans"/>
                <a:cs typeface="Fira Sans"/>
              </a:defRPr>
            </a:pPr>
            <a:r>
              <a:rPr sz="1200" b="0">
                <a:solidFill>
                  <a:srgbClr val="D9E8E4"/>
                </a:solidFill>
                <a:latin typeface="Fira Sans"/>
                <a:ea typeface="Fira Sans"/>
                <a:cs typeface="Fira Sans"/>
              </a:rPr>
              <a:t>SPRINT 1  /  08</a:t>
            </a:r>
          </a:p>
        </p:txBody>
      </p:sp>
      <p:sp>
        <p:nvSpPr>
          <p:cNvPr id="3" name="">
            <a:extLst xmlns:a="http://schemas.openxmlformats.org/drawingml/2006/main">
              <a:ext uri="{FF2B5EF4-FFF2-40B4-BE49-F238E27FC236}">
                <a16:creationId xmlns:a16="http://schemas.microsoft.com/office/drawing/2014/main" id="{5876AA0E-A1FB-463E-ADE9-55E3BF2D58AC}"/>
              </a:ext>
            </a:extLst>
          </p:cNvPr>
          <p:cNvSpPr>
            <a:spLocks xmlns:a="http://schemas.openxmlformats.org/drawingml/2006/main" noGrp="1"/>
          </p:cNvSpPr>
          <p:nvPr/>
        </p:nvSpPr>
        <p:spPr>
          <a:xfrm xmlns:a="http://schemas.openxmlformats.org/drawingml/2006/main">
            <a:off x="781050" y="1571625"/>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D9E8E4"/>
                </a:solidFill>
                <a:latin typeface="Fira Sans"/>
                <a:ea typeface="Fira Sans"/>
                <a:cs typeface="Fira Sans"/>
              </a:defRPr>
            </a:pPr>
            <a:r>
              <a:rPr sz="1950" b="1">
                <a:solidFill>
                  <a:srgbClr val="D9E8E4"/>
                </a:solidFill>
                <a:latin typeface="Fira Sans"/>
                <a:ea typeface="Fira Sans"/>
                <a:cs typeface="Fira Sans"/>
              </a:rPr>
              <a:t>01</a:t>
            </a:r>
          </a:p>
        </p:txBody>
      </p:sp>
      <p:sp>
        <p:nvSpPr>
          <p:cNvPr id="4" name="">
            <a:extLst xmlns:a="http://schemas.openxmlformats.org/drawingml/2006/main">
              <a:ext uri="{FF2B5EF4-FFF2-40B4-BE49-F238E27FC236}">
                <a16:creationId xmlns:a16="http://schemas.microsoft.com/office/drawing/2014/main" id="{1D6B414E-1B16-4B59-9451-171289AFCA02}"/>
              </a:ext>
            </a:extLst>
          </p:cNvPr>
          <p:cNvSpPr>
            <a:spLocks xmlns:a="http://schemas.openxmlformats.org/drawingml/2006/main" noGrp="1"/>
          </p:cNvSpPr>
          <p:nvPr/>
        </p:nvSpPr>
        <p:spPr>
          <a:xfrm xmlns:a="http://schemas.openxmlformats.org/drawingml/2006/main">
            <a:off x="1638300" y="1571625"/>
            <a:ext cx="933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0">
                <a:solidFill>
                  <a:srgbClr val="FFFFFF"/>
                </a:solidFill>
                <a:latin typeface="Fira Sans"/>
                <a:ea typeface="Fira Sans"/>
                <a:cs typeface="Fira Sans"/>
              </a:defRPr>
            </a:pPr>
            <a:r>
              <a:rPr sz="2250" b="0">
                <a:solidFill>
                  <a:srgbClr val="FFFFFF"/>
                </a:solidFill>
                <a:latin typeface="Fira Sans"/>
                <a:ea typeface="Fira Sans"/>
                <a:cs typeface="Fira Sans"/>
              </a:rPr>
              <a:t>Which user task should free drawing support?</a:t>
            </a:r>
          </a:p>
        </p:txBody>
      </p:sp>
      <p:sp>
        <p:nvSpPr>
          <p:cNvPr id="5" name="">
            <a:extLst xmlns:a="http://schemas.openxmlformats.org/drawingml/2006/main">
              <a:ext uri="{FF2B5EF4-FFF2-40B4-BE49-F238E27FC236}">
                <a16:creationId xmlns:a16="http://schemas.microsoft.com/office/drawing/2014/main" id="{09BDE514-DEF5-4BEA-B5BB-4B764D754BFF}"/>
              </a:ext>
            </a:extLst>
          </p:cNvPr>
          <p:cNvSpPr>
            <a:spLocks xmlns:a="http://schemas.openxmlformats.org/drawingml/2006/main" noGrp="1"/>
          </p:cNvSpPr>
          <p:nvPr/>
        </p:nvSpPr>
        <p:spPr>
          <a:xfrm xmlns:a="http://schemas.openxmlformats.org/drawingml/2006/main">
            <a:off x="781050" y="247650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D9E8E4"/>
                </a:solidFill>
                <a:latin typeface="Fira Sans"/>
                <a:ea typeface="Fira Sans"/>
                <a:cs typeface="Fira Sans"/>
              </a:defRPr>
            </a:pPr>
            <a:r>
              <a:rPr sz="1950" b="1">
                <a:solidFill>
                  <a:srgbClr val="D9E8E4"/>
                </a:solidFill>
                <a:latin typeface="Fira Sans"/>
                <a:ea typeface="Fira Sans"/>
                <a:cs typeface="Fira Sans"/>
              </a:rPr>
              <a:t>02</a:t>
            </a:r>
          </a:p>
        </p:txBody>
      </p:sp>
      <p:sp>
        <p:nvSpPr>
          <p:cNvPr id="6" name="">
            <a:extLst xmlns:a="http://schemas.openxmlformats.org/drawingml/2006/main">
              <a:ext uri="{FF2B5EF4-FFF2-40B4-BE49-F238E27FC236}">
                <a16:creationId xmlns:a16="http://schemas.microsoft.com/office/drawing/2014/main" id="{A28AA8F3-BB3D-438F-BCA6-475A3CE90FA2}"/>
              </a:ext>
            </a:extLst>
          </p:cNvPr>
          <p:cNvSpPr>
            <a:spLocks xmlns:a="http://schemas.openxmlformats.org/drawingml/2006/main" noGrp="1"/>
          </p:cNvSpPr>
          <p:nvPr/>
        </p:nvSpPr>
        <p:spPr>
          <a:xfrm xmlns:a="http://schemas.openxmlformats.org/drawingml/2006/main">
            <a:off x="1638300" y="2476500"/>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0">
                <a:solidFill>
                  <a:srgbClr val="FFFFFF"/>
                </a:solidFill>
                <a:latin typeface="Fira Sans"/>
                <a:ea typeface="Fira Sans"/>
                <a:cs typeface="Fira Sans"/>
              </a:defRPr>
            </a:pPr>
            <a:r>
              <a:rPr sz="2250" b="0">
                <a:solidFill>
                  <a:srgbClr val="FFFFFF"/>
                </a:solidFill>
                <a:latin typeface="Fira Sans"/>
                <a:ea typeface="Fira Sans"/>
                <a:cs typeface="Fira Sans"/>
              </a:rPr>
              <a:t>Should sketches save, stay private, or be shared live?</a:t>
            </a:r>
          </a:p>
        </p:txBody>
      </p:sp>
      <p:sp>
        <p:nvSpPr>
          <p:cNvPr id="7" name="">
            <a:extLst xmlns:a="http://schemas.openxmlformats.org/drawingml/2006/main">
              <a:ext uri="{FF2B5EF4-FFF2-40B4-BE49-F238E27FC236}">
                <a16:creationId xmlns:a16="http://schemas.microsoft.com/office/drawing/2014/main" id="{DD07A5E6-4033-46CB-94F6-9536DC270922}"/>
              </a:ext>
            </a:extLst>
          </p:cNvPr>
          <p:cNvSpPr>
            <a:spLocks xmlns:a="http://schemas.openxmlformats.org/drawingml/2006/main" noGrp="1"/>
          </p:cNvSpPr>
          <p:nvPr/>
        </p:nvSpPr>
        <p:spPr>
          <a:xfrm xmlns:a="http://schemas.openxmlformats.org/drawingml/2006/main">
            <a:off x="781050" y="3381375"/>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D9E8E4"/>
                </a:solidFill>
                <a:latin typeface="Fira Sans"/>
                <a:ea typeface="Fira Sans"/>
                <a:cs typeface="Fira Sans"/>
              </a:defRPr>
            </a:pPr>
            <a:r>
              <a:rPr sz="1950" b="1">
                <a:solidFill>
                  <a:srgbClr val="D9E8E4"/>
                </a:solidFill>
                <a:latin typeface="Fira Sans"/>
                <a:ea typeface="Fira Sans"/>
                <a:cs typeface="Fira Sans"/>
              </a:rPr>
              <a:t>03</a:t>
            </a:r>
          </a:p>
        </p:txBody>
      </p:sp>
      <p:sp>
        <p:nvSpPr>
          <p:cNvPr id="8" name="">
            <a:extLst xmlns:a="http://schemas.openxmlformats.org/drawingml/2006/main">
              <a:ext uri="{FF2B5EF4-FFF2-40B4-BE49-F238E27FC236}">
                <a16:creationId xmlns:a16="http://schemas.microsoft.com/office/drawing/2014/main" id="{F5507B60-A654-49DD-AC3C-E59CE2AF5EB7}"/>
              </a:ext>
            </a:extLst>
          </p:cNvPr>
          <p:cNvSpPr>
            <a:spLocks xmlns:a="http://schemas.openxmlformats.org/drawingml/2006/main" noGrp="1"/>
          </p:cNvSpPr>
          <p:nvPr/>
        </p:nvSpPr>
        <p:spPr>
          <a:xfrm xmlns:a="http://schemas.openxmlformats.org/drawingml/2006/main">
            <a:off x="1638300" y="3381375"/>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0">
                <a:solidFill>
                  <a:srgbClr val="FFFFFF"/>
                </a:solidFill>
                <a:latin typeface="Fira Sans"/>
                <a:ea typeface="Fira Sans"/>
                <a:cs typeface="Fira Sans"/>
              </a:defRPr>
            </a:pPr>
            <a:r>
              <a:rPr sz="2250" b="0">
                <a:solidFill>
                  <a:srgbClr val="FFFFFF"/>
                </a:solidFill>
                <a:latin typeface="Fira Sans"/>
                <a:ea typeface="Fira Sans"/>
                <a:cs typeface="Fira Sans"/>
              </a:rPr>
              <a:t>Which controls and icon style belong in the first release?</a:t>
            </a:r>
          </a:p>
        </p:txBody>
      </p:sp>
      <p:sp>
        <p:nvSpPr>
          <p:cNvPr id="9" name="">
            <a:extLst xmlns:a="http://schemas.openxmlformats.org/drawingml/2006/main">
              <a:ext uri="{FF2B5EF4-FFF2-40B4-BE49-F238E27FC236}">
                <a16:creationId xmlns:a16="http://schemas.microsoft.com/office/drawing/2014/main" id="{54833601-9D8F-428A-AFAB-4F334FB810E6}"/>
              </a:ext>
            </a:extLst>
          </p:cNvPr>
          <p:cNvSpPr>
            <a:spLocks xmlns:a="http://schemas.openxmlformats.org/drawingml/2006/main" noGrp="1"/>
          </p:cNvSpPr>
          <p:nvPr/>
        </p:nvSpPr>
        <p:spPr>
          <a:xfrm xmlns:a="http://schemas.openxmlformats.org/drawingml/2006/main">
            <a:off x="781050" y="4286250"/>
            <a:ext cx="685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D9E8E4"/>
                </a:solidFill>
                <a:latin typeface="Fira Sans"/>
                <a:ea typeface="Fira Sans"/>
                <a:cs typeface="Fira Sans"/>
              </a:defRPr>
            </a:pPr>
            <a:r>
              <a:rPr sz="1950" b="1">
                <a:solidFill>
                  <a:srgbClr val="D9E8E4"/>
                </a:solidFill>
                <a:latin typeface="Fira Sans"/>
                <a:ea typeface="Fira Sans"/>
                <a:cs typeface="Fira Sans"/>
              </a:rPr>
              <a:t>04</a:t>
            </a:r>
          </a:p>
        </p:txBody>
      </p:sp>
      <p:sp>
        <p:nvSpPr>
          <p:cNvPr id="10" name="">
            <a:extLst xmlns:a="http://schemas.openxmlformats.org/drawingml/2006/main">
              <a:ext uri="{FF2B5EF4-FFF2-40B4-BE49-F238E27FC236}">
                <a16:creationId xmlns:a16="http://schemas.microsoft.com/office/drawing/2014/main" id="{F48ADA00-3131-4E3C-A5F5-0D7035A68773}"/>
              </a:ext>
            </a:extLst>
          </p:cNvPr>
          <p:cNvSpPr>
            <a:spLocks xmlns:a="http://schemas.openxmlformats.org/drawingml/2006/main" noGrp="1"/>
          </p:cNvSpPr>
          <p:nvPr/>
        </p:nvSpPr>
        <p:spPr>
          <a:xfrm xmlns:a="http://schemas.openxmlformats.org/drawingml/2006/main">
            <a:off x="1638300" y="4286250"/>
            <a:ext cx="933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250" b="0">
                <a:solidFill>
                  <a:srgbClr val="FFFFFF"/>
                </a:solidFill>
                <a:latin typeface="Fira Sans"/>
                <a:ea typeface="Fira Sans"/>
                <a:cs typeface="Fira Sans"/>
              </a:defRPr>
            </a:pPr>
            <a:r>
              <a:rPr sz="2250" b="0">
                <a:solidFill>
                  <a:srgbClr val="FFFFFF"/>
                </a:solidFill>
                <a:latin typeface="Fira Sans"/>
                <a:ea typeface="Fira Sans"/>
                <a:cs typeface="Fira Sans"/>
              </a:rPr>
              <a:t>Can the client provide the existing repository and product handoff?</a:t>
            </a:r>
          </a:p>
        </p:txBody>
      </p:sp>
      <p:sp>
        <p:nvSpPr>
          <p:cNvPr id="11" name="">
            <a:extLst xmlns:a="http://schemas.openxmlformats.org/drawingml/2006/main">
              <a:ext uri="{FF2B5EF4-FFF2-40B4-BE49-F238E27FC236}">
                <a16:creationId xmlns:a16="http://schemas.microsoft.com/office/drawing/2014/main" id="{1C46FF3B-008D-4265-956D-AFA0571CD16B}"/>
              </a:ext>
            </a:extLst>
          </p:cNvPr>
          <p:cNvSpPr>
            <a:spLocks xmlns:a="http://schemas.openxmlformats.org/drawingml/2006/main" noGrp="1"/>
          </p:cNvSpPr>
          <p:nvPr/>
        </p:nvSpPr>
        <p:spPr>
          <a:xfrm xmlns:a="http://schemas.openxmlformats.org/drawingml/2006/main">
            <a:off x="781050" y="565785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D9E8E4"/>
                </a:solidFill>
                <a:latin typeface="Fira Sans"/>
                <a:ea typeface="Fira Sans"/>
                <a:cs typeface="Fira Sans"/>
              </a:defRPr>
            </a:pPr>
            <a:r>
              <a:rPr sz="1575" b="0">
                <a:solidFill>
                  <a:srgbClr val="D9E8E4"/>
                </a:solidFill>
                <a:latin typeface="Fira Sans"/>
                <a:ea typeface="Fira Sans"/>
                <a:cs typeface="Fira Sans"/>
              </a:rPr>
              <a:t>Decisions, owners, and dates: capture after review</a:t>
            </a:r>
          </a:p>
        </p:txBody>
      </p:sp>
    </p:spTree>
    <p:extLst>
      <p:ext uri="{BB962C8B-B14F-4D97-AF65-F5344CB8AC3E}">
        <p14:creationId xmlns:p14="http://schemas.microsoft.com/office/powerpoint/2010/main" val="8096889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2026-10-11T06:40:27.6530000Z</dcterms:created>
  <dcterms:modified xsi:type="dcterms:W3CDTF">2026-10-11T06:40:27.6530000Z</dcterms:modified>
</coreProperties>
</file>